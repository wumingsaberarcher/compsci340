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64" r:id="rId11"/>
    <p:sldId id="262" r:id="rId12"/>
    <p:sldId id="265" r:id="rId13"/>
    <p:sldId id="266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5"/>
  </p:normalViewPr>
  <p:slideViewPr>
    <p:cSldViewPr snapToGrid="0">
      <p:cViewPr varScale="1">
        <p:scale>
          <a:sx n="115" d="100"/>
          <a:sy n="115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5T11:56:51.116"/>
    </inkml:context>
    <inkml:brush xml:id="br0">
      <inkml:brushProperty name="width" value="0.035" units="cm"/>
      <inkml:brushProperty name="height" value="0.035" units="cm"/>
      <inkml:brushProperty name="color" value="#DE00B7"/>
    </inkml:brush>
  </inkml:definitions>
  <inkml:trace contextRef="#ctx0" brushRef="#br0">1 2043 24575,'43'-46'0,"-1"8"0,9-4 0,-2 2 0,6-2 0,5-3-649,-1 3 0,6-2 1,2 0-1,2 0 649,6 0 0,3 0 0,2 1 0,1 1 0,0 2 0,2 1 0,0 1 0,-1 3 0,-3 4 0,0 1 0,-1 2 0,-2 4 0,8 1 0,-2 3 0,-5 2 413,16-1 0,-8 2-413,-17 5 0,-7 1 428,26-12-428,-32-1 0,-21 4 0,-20 7 1341,-15 7-1341,1 3 0,84-39 0,-13 10 0,15-5 0,7-2-715,-19 8 1,5-1-1,4-2 1,3 1-1,1-1 715,-2 2 0,2 0 0,3-1 0,1 1 0,1 1 0,-1 2 0,3 0 0,0 2 0,1 0 0,1 2 0,-1 1 0,1 2-572,0 2 0,1 2 0,-1 1 0,1 1 0,0 2 1,1 1 571,0 1 0,1 2 0,1 1 0,-1 1 0,0 0 0,0 2 0,-1 0 0,0 0 0,0 2 0,0 0 0,-2 1 0,-1 1-258,-6 0 0,-2 1 0,0 1 0,-2 0 0,-1 2 0,-3 0 258,21 2 0,-2 2 0,-5 2 0,-5-1 0,0 2 0,-7 2 0,-9 0 0,-7 3 0,-12 0 2520,-7 0-2520,-42-13 3679,58-1-3679,21-11 0,20-6 0,-25 5 0,9-2 0,5-1 0,4 1-376,-18 3 0,2 0 0,3 0 0,3 0 0,1 0 0,3 1 376,-10 1 0,3 1 0,1-1 0,2 1 0,1 1 0,1 0 0,1 0 0,0 2-508,-3 0 0,1 0 0,2 1 1,0 1-1,1 0 0,0 0 0,0 1 1,-1 1-1,0 0 508,0 0 0,1 1 0,-1 1 0,1 0 0,-1 1 0,0 0 0,-1 1 0,0 0 0,-2 1 0,6 1 0,0 0 0,-1 1 0,0 1 0,-2 0 0,-1 1 0,-3 0 0,-2 2-183,7 1 1,-3 1 0,-1 0 0,-4 2 0,-3 0 0,-4 2 182,11 4 0,-4 3 0,-6-1 0,-5 0 0,-2 0 0,-5-1 0,-7-2 0,-1-2 0,-10-4 2964,-3-2-2964,-38-10 5327,-10-1-5327,38 0 0,22 0 0,15 0 0,3 0 0,8 0 0,3 0 21,-7 1 0,4-1 0,2 1 0,0 1-21,7 1 0,2 0 0,0 1 0,0 1 0,-1 2 0,0 2 0,-1 1 0,-1 2 0,-5 2 0,-2 1 0,-1 2 0,-1 1-218,-5 1 1,-1 1 0,-2 2 0,-3 1 217,14 7 0,-5 2 0,-3 1 0,-14-3 0,-4 1 0,-2-1 0,15 11 0,-5-1 0,-11-4 0,-3-1 0,-7-4 0,-3 0 1808,34 24-1808,-7-2 958,0-4-958,2-4 0,-6-5 0,-8-9 0,-15-8 0,-15-10 0,-13-8 0,-10-3 0,1-2 0,10 4 0,29 14 0,39 22 0,-28-11 0,3 4 0,9 5 0,1 3 0,1 0 0,-1 1 0,-5-1 0,-2 0 0,-6-4 0,-3 0 0,-11-6 0,-3-1 0,19 17 0,-22-14 0,-13-11 0,-8-6 0,-7-9 0,-5-16 0,-12-21 0,-13-28 0,-14-22 0,-8-2 0,0 0 0,5 10 0,9 11 0,10 6 0,6 12 0,7 13 0,3 9 0,2 12 0,9 24 0,15 24 0,12 27 0,8 12 0,-2-5 0,-7-11 0,-7-19 0,-4-9 0,-7-9 0,-3-3 0,-4 1 0,-5-2 0,-1-1 0,0-4 0,2-3 0,0 0 0,2-1 0,-2 2 0,-1 0 0,-1 1 0,0 0 0,2 2 0,1 0 0,-2-2 0,1-3 0,-3-4 0,1-1 0,-3-1 0,-9 3 0,-11 1 0,-11 3 0,-9-1 0,1-1 0,5-3 0,4-4 0,3 0 0,-2-1 0,-3-1 0,0 0 0,4-1 0,9-3 0,11-1 0,10-2 0,7-4 0,8-3 0,9-5 0,7-2 0,7-1 0,4-2 0,-3 3 0,-7 4 0,-7 5 0,-6 3 0,-3 3 0,0-2 0,0 0 0,-1 1 0,-3-1 0,-3 5 0,-11 5 0,-16 11 0,-17 13 0,-17 8 0,-5 1 0,7-5 0,9-7 0,14-5 0,6-3 0,2-1 0,3-3 0,-1-2 0,2-2 0,4-2 0,3 0 0,0-1 0,-1 0 0,3-3 0,9-7 0,19-10 0,17-10 0,7-4 0,-2 4 0,-12 6 0,-12 7 0,-6 5 0,-7 1 0,-3 2 0,-1-1 0,0-1 0,3-1 0,2-4 0,4-2 0,1-4 0,1 0 0,5-2 0,3 2 0,1 0 0,-1 4 0,-6 3 0,-11 3 0,-28 10 0,-29 13 0,-21 13 0,-4 8 0,16-1 0,16-7 0,15-6 0,8-4 0,9-7 0,8-5 0,13-8 0,27-16 0,27-14 0,16-5 0,-5 2 0,-22 10 0,-22 11 0,-13 5 0,-9 5 0,-2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5T11:57:12.24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5T11:57:16.84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17441 0 24575,'-6'7'0,"-33"17"0,-2-1 0,-9 5 0,-4 2 0,-6 4 0,-4 3-758,3-1 1,-5 3-1,-2 1 1,-1 3 757,-12 7 0,-1 2 0,-3 2 0,0 3-526,9-5 1,-2 2 0,0 2 0,-1 0 0,2 0 525,1 0 0,-1 0 0,2 0 0,0 1 0,0-1 0,3-1 0,1-1 0,0 1 0,1-1 0,1-2 39,-8 7 1,1-2 0,1-1 0,3-3-40,-9 5 0,3-4 0,3-2-105,8-7 1,2-2 0,2-1 104,6-4 0,1-2 0,2 0 0,-23 14 0,3-1 0,1 1 0,0 0 0,0 0 0,2 1 611,7-4 1,0 1-612,1 1 0,2 0 1400,3-2 1,2 0-1401,5-5 0,1-2 679,4-4 1,1-2-680,-33 20 427,18-17-427,18-9 0,16-14 0,12-6 0,7-5 0,0-3 0,-11 0 0,-50 1 0,-28 3 0,20 1 0,-9 1 0,-7 1 0,-3 1-771,11 0 1,-4 0 0,-3 2 0,-3 0 0,-2 1 0,0 0 770,13-1 0,-1 1 0,-2 0 0,0 0 0,-2 1 0,-1 0 0,-1 0 0,-2 0-584,0 1 0,-2 1 1,-1 0-1,-1 0 0,-1 0 1,-1 1-1,-1-1 0,0 0 1,0-1 583,6-1 0,-1 1 0,-1-1 0,-1 0 0,1-1 0,-1 1 0,-1-1 0,1 0 0,-1-1 0,1 0 0,-3 0 0,0-1 0,0 0 0,-1 0 0,1-1 0,-1 0 0,0 0 0,1-1 0,0 0 0,1-1 0,2 0 0,-1 0 0,0 0 0,-1-1 0,2 0 0,0-1 0,1 0 0,2 0 0,3-1 0,1-1-259,-16 0 1,2 0-1,2-1 1,3-1-1,1-1 1,3 0 0,1-1 258,1 0 0,1 0 0,2-1 0,3-2 0,3 0 0,4-2 0,-15-5 0,5-1 0,5-3 0,6 0 0,4-4 0,6-2 0,0 1 0,0 2 0,0 1 0,-1 0 624,-4-1 1,-1 0 0,-3 0-625,-15-2 0,-3 0 0,-5-4 754,12 1 1,-4-2-1,-2-2 1,-1-3-755,9 1 0,0-2 0,-2-2 0,-2-1 0,-2 0-90,6 3 0,-2-2 0,-2 1 0,-1-2 0,0 1 1,0-1 89,-2 0 0,0-1 0,-1 0 0,0 0 0,1 0 0,1 1 0,2 0 0,0-1 0,0 1 0,2 0 0,1 1 0,3 0-231,-5-2 1,2 1-1,2 0 1,3 1 0,4 1 230,1-1 0,3 1 0,4 1 0,3 0 258,-5-4 0,4 1 0,7 1-258,-6-6 0,10 2 2115,-16-22-2115,28 13 3799,16 8-3799,6 3 1794,0-1-1794,-10-3 0,-12-3 0,-17-5 0,-17-1 0,33 21 0,-3 0 0,-3-1 0,0 0 0,-1-2 0,2-1 0,2 1 0,3 0 0,-35-23 0,15 9 0,13 14 0,12 7 0,8 7 0,6 2 0,3 5 0,4 3 0,5 4 0,2 1 0,3 2 0,3 1 0,-2 1 0,-17-8 0,-30-15 0,-27-17 0,36 15 0,0-1 0,-35-19 0,28 13 0,20 11 0,13 6 0,8 3 0,2 0 0,2 2 0,1 2 0,1-2 0,0-1 0,-1-2 0,-1 0 0,0 3 0,4 22 0,3 28 0,2 33 0,6 23 0,8 0 0,8-8 0,7-9 0,-2-8 0,-4-7 0,-8-10 0,-9-15 0,-3-12 0,-3-13 0,0-19 0,0-26 0,-4-30 0,-6-28 0,1 37 0,-1-1 0,-3-2 0,0-1 0,-1 1 0,1 0 0,-10-42 0,4 12 0,7 16 0,5 16 0,2 10 0,2 10 0,-1 7 0,1 4 0,-1 4 0,-2 3 0,0 5 0,0 3 0,2 1 0,6 0 0,16-4 0,24-3 0,29 0 0,27-1 0,-42 7 0,1 2 0,0-1 0,0 0 0,-3 0 0,-1 0 0,40 0 0,-19 1 0,-16 3 0,-11 0 0,-2-2 0,5-1 0,8 0 0,8 1 0,7-1 0,0-1 0,-7 1 0,-15 0 0,-13 3 0,-12 0 0,-9 2 0,-7-1 0,-6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26C7-5D68-9CE7-574A-0776FF22D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3E57D-0376-DD6F-3C9C-588422030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E8DB8-D395-A39F-ABEE-D8E882FD3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49D4B-67C0-B64A-B56C-52D3346BA65C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87D70-0481-18A9-D108-93ED14257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6E5B3-9449-56D8-6483-5F24CAC5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B58C-16C4-5542-9062-38C78059B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47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D0EDB-CA17-C3B1-770F-B78EB9536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48408-EDDE-521C-5E9B-682722FAC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44156-5207-D646-689C-612068FF8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49D4B-67C0-B64A-B56C-52D3346BA65C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A22F0-B5A1-283F-75FF-F89EF9858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4CD0C-DCA1-C92C-68DF-9153E860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B58C-16C4-5542-9062-38C78059B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546-9342-715A-0448-924E3CBA0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897A2-86F6-FDCC-6D99-7A09F4354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9EAF9-3E1A-E494-4ABD-9C0ABBA4E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49D4B-67C0-B64A-B56C-52D3346BA65C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4DCA4-A8CB-442B-AD4B-57DBF75EE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E0FC6-D373-C0E5-816E-7C6D28E5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B58C-16C4-5542-9062-38C78059B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25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1A0E-FFC1-3EDA-0D1A-4363150FB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99993-B7F0-0264-768D-0BD26FBEF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A2F50B-1498-40D0-C370-8020F0874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6E11E-D8C8-F998-E81B-A86AB143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49D4B-67C0-B64A-B56C-52D3346BA65C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C9A06-BE68-8A19-73A1-BCB4845F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0F85F-7D72-D97A-A3C2-A455B459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B58C-16C4-5542-9062-38C78059B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658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DF88A-2B81-9DA2-5FD9-9564F66D2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3951E-7318-AE46-61DF-195808D1F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F22D0-91D2-1896-A7B9-BB3D16B7F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25C8BF-C9E8-5878-A62C-1887C45BE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64DF5-3E72-559D-04AE-EB1957208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3CDCB-636A-4D7F-3BB1-2A6BE4293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49D4B-67C0-B64A-B56C-52D3346BA65C}" type="datetimeFigureOut">
              <a:rPr lang="en-US" smtClean="0"/>
              <a:t>8/5/26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E8138D-2553-5083-A6EE-5D961C9C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E22056-BB8B-101F-E310-72C255501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B58C-16C4-5542-9062-38C78059B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47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E45FF-5833-16ED-C467-DA13B5733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C2C018-355D-C3F2-C51E-B87EEE84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49D4B-67C0-B64A-B56C-52D3346BA65C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5A73C-F029-17A6-AF47-E192150A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4E83B-DF5F-4AD1-8EED-89E9347B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B58C-16C4-5542-9062-38C78059B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5AFFF0-32D1-48BC-ED1D-5A660890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49D4B-67C0-B64A-B56C-52D3346BA65C}" type="datetimeFigureOut">
              <a:rPr lang="en-US" smtClean="0"/>
              <a:t>8/5/26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AA34AE-F858-603E-C087-C9491742B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296E3-7D61-8A44-C1C5-94E2F2F6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B58C-16C4-5542-9062-38C78059B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79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0AECD-7AC2-A250-4EBA-40ED4DA4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3B63D-49FC-B4FE-E00A-ACB0DC7B1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465D8-C5B1-B04D-A412-934BD2159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6C4AC-B2DC-CC93-893F-10955B487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49D4B-67C0-B64A-B56C-52D3346BA65C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0ECD8-B622-5707-EC70-85D414308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9458B-6373-C8BD-2841-75A54BA89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B58C-16C4-5542-9062-38C78059B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25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23EF-3980-66B9-13DB-0E1C1A32E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BD2B8F-A638-15A4-B06F-492916606E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A0D3E-4AFD-6F16-8E71-FD8F5DBED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C1CBD-D02D-28BD-7190-7A50D0DD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49D4B-67C0-B64A-B56C-52D3346BA65C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54081-C03C-28B8-E589-340FFE905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E6E45-E008-2AC4-B57A-BBD2B11C2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B58C-16C4-5542-9062-38C78059B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6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43DD-B7D7-75C3-17E4-8ACD77DF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A7864-6459-DBB7-35A5-CF9D080B0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0D832-B826-C9EA-6B29-51C1C778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49D4B-67C0-B64A-B56C-52D3346BA65C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D4B95-8162-89CB-8F14-B493560E0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5887D-ECA9-382A-AD06-F849496C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B58C-16C4-5542-9062-38C78059B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09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6A6B66-B684-F3F5-1CB0-407E429A1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4E7F2-03D5-D823-27F8-31DB410E4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7BA0F-807B-4144-95F9-569D1915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49D4B-67C0-B64A-B56C-52D3346BA65C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FBF1C-A973-DA40-874A-4439BF4B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BF666-5AFF-99C3-D0FC-02716808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B58C-16C4-5542-9062-38C78059B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91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35AC4F-9BD6-9704-45B4-3BB27A28C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3DC1A-FCF8-5416-D669-74E27844F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1BDFC-52D5-2F38-564A-7FEE47847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49D4B-67C0-B64A-B56C-52D3346BA65C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46484-2EE9-6105-796D-C8E7662DC0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0F37F-1C52-FE61-3A38-32E1F454C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0B58C-16C4-5542-9062-38C78059B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0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29068-92EC-D58B-B1E2-A7E79582ED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Tutorial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E2B19A-6750-C20A-9E91-B83D5D6C12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Week 1 review and Assignment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ECF67-6EA3-496E-146C-26FEB8FCC327}"/>
              </a:ext>
            </a:extLst>
          </p:cNvPr>
          <p:cNvSpPr txBox="1"/>
          <p:nvPr/>
        </p:nvSpPr>
        <p:spPr>
          <a:xfrm>
            <a:off x="9906000" y="6358269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Delivered by Jinghao</a:t>
            </a:r>
          </a:p>
        </p:txBody>
      </p:sp>
    </p:spTree>
    <p:extLst>
      <p:ext uri="{BB962C8B-B14F-4D97-AF65-F5344CB8AC3E}">
        <p14:creationId xmlns:p14="http://schemas.microsoft.com/office/powerpoint/2010/main" val="2856977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012A-7650-8222-CF2A-1E359242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 Modes of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0F0D1-BCBB-12EF-0908-BCC71E5B4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When the CPU executes instructions, it is either in user mode or Kernel mode. </a:t>
            </a:r>
          </a:p>
          <a:p>
            <a:r>
              <a:rPr lang="en-US"/>
              <a:t>User mode runs application instructions</a:t>
            </a:r>
          </a:p>
          <a:p>
            <a:r>
              <a:rPr lang="en-US"/>
              <a:t>Kernel mode runs previlleged instructions (memory and device control)</a:t>
            </a:r>
          </a:p>
        </p:txBody>
      </p:sp>
    </p:spTree>
    <p:extLst>
      <p:ext uri="{BB962C8B-B14F-4D97-AF65-F5344CB8AC3E}">
        <p14:creationId xmlns:p14="http://schemas.microsoft.com/office/powerpoint/2010/main" val="25867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3C67-0B00-55A7-1797-FE0B413D4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 Modes of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B2AB1-98B7-187C-A338-46CF684F9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26935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u="sng"/>
              <a:t>To enter kernel mode:</a:t>
            </a:r>
          </a:p>
          <a:p>
            <a:pPr>
              <a:buFontTx/>
              <a:buChar char="-"/>
            </a:pPr>
            <a:r>
              <a:rPr lang="en-US" sz="1800"/>
              <a:t>System call (User request)</a:t>
            </a:r>
          </a:p>
          <a:p>
            <a:pPr>
              <a:buFontTx/>
              <a:buChar char="-"/>
            </a:pPr>
            <a:r>
              <a:rPr lang="en-US" sz="1800"/>
              <a:t>Exception (made by user; unexpected)</a:t>
            </a:r>
          </a:p>
          <a:p>
            <a:pPr>
              <a:buFontTx/>
              <a:buChar char="-"/>
            </a:pPr>
            <a:r>
              <a:rPr lang="en-US" sz="1800"/>
              <a:t>Hardware interrupt (worker request)</a:t>
            </a:r>
          </a:p>
          <a:p>
            <a:endParaRPr lang="en-US"/>
          </a:p>
          <a:p>
            <a:pPr marL="0" indent="0">
              <a:buNone/>
            </a:pPr>
            <a:r>
              <a:rPr lang="en-US" i="1" u="sng"/>
              <a:t>Why?</a:t>
            </a:r>
            <a:br>
              <a:rPr lang="en-US"/>
            </a:br>
            <a:r>
              <a:rPr lang="en-US" sz="1800"/>
              <a:t>The kernel is responsible to protect the os. Imagine allowing users to access and modify memory (hardwares) freely, the os will crash. 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Think of a company, users are the customers and customers do not interact directly with the workers. A manager bridge between them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70C0C-BBC8-1D2C-8126-6A1D28021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825625"/>
            <a:ext cx="56388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99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8C7AD-99E3-7F30-9B43-17F8989AE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Trap (user —&gt; kernel —&gt; user)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51B01A-A753-DE48-6157-7D497467597A}"/>
              </a:ext>
            </a:extLst>
          </p:cNvPr>
          <p:cNvSpPr/>
          <p:nvPr/>
        </p:nvSpPr>
        <p:spPr>
          <a:xfrm>
            <a:off x="4359348" y="3024962"/>
            <a:ext cx="2094614" cy="108452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Process Control Block</a:t>
            </a:r>
          </a:p>
          <a:p>
            <a:pPr algn="ctr"/>
            <a:r>
              <a:rPr lang="en-US"/>
              <a:t>(PCB)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01BC34-B8C8-77F8-A05E-1C54F5DD7B75}"/>
              </a:ext>
            </a:extLst>
          </p:cNvPr>
          <p:cNvSpPr/>
          <p:nvPr/>
        </p:nvSpPr>
        <p:spPr>
          <a:xfrm>
            <a:off x="519597" y="2720750"/>
            <a:ext cx="2073349" cy="17118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User instruction</a:t>
            </a: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866F56FB-5927-3450-06D0-15AC768EA7A3}"/>
              </a:ext>
            </a:extLst>
          </p:cNvPr>
          <p:cNvSpPr/>
          <p:nvPr/>
        </p:nvSpPr>
        <p:spPr>
          <a:xfrm>
            <a:off x="8563298" y="2392238"/>
            <a:ext cx="2790502" cy="2446456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Previlliged Instructions</a:t>
            </a:r>
          </a:p>
          <a:p>
            <a:pPr algn="ctr"/>
            <a:r>
              <a:rPr lang="en-US"/>
              <a:t>by kernel 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84C7043-4111-06A9-C579-17ADCAAC8228}"/>
              </a:ext>
            </a:extLst>
          </p:cNvPr>
          <p:cNvCxnSpPr/>
          <p:nvPr/>
        </p:nvCxnSpPr>
        <p:spPr>
          <a:xfrm flipV="1">
            <a:off x="2800979" y="3413050"/>
            <a:ext cx="1350335" cy="944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122053F-8018-F144-C57C-CAFC6C486EFB}"/>
                  </a:ext>
                </a:extLst>
              </p14:cNvPr>
              <p14:cNvContentPartPr/>
              <p14:nvPr/>
            </p14:nvContentPartPr>
            <p14:xfrm>
              <a:off x="2628460" y="2173571"/>
              <a:ext cx="6116400" cy="7765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122053F-8018-F144-C57C-CAFC6C486E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2340" y="2167451"/>
                <a:ext cx="6128640" cy="78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1CDF885-08F4-A7A1-8DAD-A2A35CEDBD5E}"/>
                  </a:ext>
                </a:extLst>
              </p14:cNvPr>
              <p14:cNvContentPartPr/>
              <p14:nvPr/>
            </p14:nvContentPartPr>
            <p14:xfrm>
              <a:off x="7487380" y="5408891"/>
              <a:ext cx="360" cy="3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1CDF885-08F4-A7A1-8DAD-A2A35CEDBD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81260" y="540277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F8B6578-A913-6BBA-C759-E43281CF290D}"/>
                  </a:ext>
                </a:extLst>
              </p14:cNvPr>
              <p14:cNvContentPartPr/>
              <p14:nvPr/>
            </p14:nvContentPartPr>
            <p14:xfrm>
              <a:off x="2398420" y="4570091"/>
              <a:ext cx="6279120" cy="12391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F8B6578-A913-6BBA-C759-E43281CF290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92300" y="4563971"/>
                <a:ext cx="6291360" cy="1251360"/>
              </a:xfrm>
              <a:prstGeom prst="rect">
                <a:avLst/>
              </a:prstGeom>
            </p:spPr>
          </p:pic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116F57-60A5-9753-D072-5F5176978756}"/>
              </a:ext>
            </a:extLst>
          </p:cNvPr>
          <p:cNvCxnSpPr/>
          <p:nvPr/>
        </p:nvCxnSpPr>
        <p:spPr>
          <a:xfrm flipH="1">
            <a:off x="2800979" y="3923414"/>
            <a:ext cx="1350335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B08B95C-C516-E0D8-428D-392B0A661D25}"/>
              </a:ext>
            </a:extLst>
          </p:cNvPr>
          <p:cNvSpPr txBox="1"/>
          <p:nvPr/>
        </p:nvSpPr>
        <p:spPr>
          <a:xfrm>
            <a:off x="2881423" y="3024962"/>
            <a:ext cx="1477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Save states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50521C-D090-E62A-6648-925841B49133}"/>
              </a:ext>
            </a:extLst>
          </p:cNvPr>
          <p:cNvSpPr txBox="1"/>
          <p:nvPr/>
        </p:nvSpPr>
        <p:spPr>
          <a:xfrm>
            <a:off x="4218337" y="1781964"/>
            <a:ext cx="2936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Gives control to kernel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7298060-843F-675B-F1E2-F92C46A12535}"/>
              </a:ext>
            </a:extLst>
          </p:cNvPr>
          <p:cNvSpPr txBox="1"/>
          <p:nvPr/>
        </p:nvSpPr>
        <p:spPr>
          <a:xfrm>
            <a:off x="2652123" y="3970455"/>
            <a:ext cx="1648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C000"/>
                </a:solidFill>
              </a:rPr>
              <a:t>Restore states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EC02C0-DC0C-5630-9C84-809E961A4674}"/>
              </a:ext>
            </a:extLst>
          </p:cNvPr>
          <p:cNvSpPr txBox="1"/>
          <p:nvPr/>
        </p:nvSpPr>
        <p:spPr>
          <a:xfrm>
            <a:off x="4101695" y="5854849"/>
            <a:ext cx="2456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C000"/>
                </a:solidFill>
              </a:rPr>
              <a:t>Control return to user</a:t>
            </a:r>
          </a:p>
        </p:txBody>
      </p:sp>
    </p:spTree>
    <p:extLst>
      <p:ext uri="{BB962C8B-B14F-4D97-AF65-F5344CB8AC3E}">
        <p14:creationId xmlns:p14="http://schemas.microsoft.com/office/powerpoint/2010/main" val="3301005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C636B-8D72-4CAC-23F3-8324424E8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Files and file descriptors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55167-387F-4DCE-96CF-9975C7E52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“Everything can be treated as a file in unix or unix-like OS”</a:t>
            </a:r>
          </a:p>
          <a:p>
            <a:r>
              <a:rPr lang="en-US"/>
              <a:t>Integer to indicate resource held by a process. Here the resource could be a stdin (like keyboard), stdout (monitor)</a:t>
            </a:r>
          </a:p>
          <a:p>
            <a:r>
              <a:rPr lang="en-US"/>
              <a:t>Use for communication between process</a:t>
            </a:r>
          </a:p>
        </p:txBody>
      </p:sp>
    </p:spTree>
    <p:extLst>
      <p:ext uri="{BB962C8B-B14F-4D97-AF65-F5344CB8AC3E}">
        <p14:creationId xmlns:p14="http://schemas.microsoft.com/office/powerpoint/2010/main" val="3451379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F514-B273-FF4B-3A92-EA31517C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Kernel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97FA0-8092-0F62-36BE-A06811F1D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Monolithic: means single, everything handled by the kernel</a:t>
            </a:r>
          </a:p>
          <a:p>
            <a:r>
              <a:rPr lang="en-US"/>
              <a:t>Microkernel: reduced kernel previilege, gives user more control over the system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33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ED5B20-B4D7-B75D-1FD7-50056D993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79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9CB83-BCA6-8ED2-EC91-DEA9E77468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Attendance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61C8C-EF0C-0924-6148-6B9B51B76E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1997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89BD09-F5EC-AC6B-83ED-9070E1FAD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9417" y="643466"/>
            <a:ext cx="561316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4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C519A-EA11-CD5D-4082-A5940B7234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Assignment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9770E-33EA-A9B4-DCEE-87581B1020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Rust version</a:t>
            </a:r>
          </a:p>
        </p:txBody>
      </p:sp>
    </p:spTree>
    <p:extLst>
      <p:ext uri="{BB962C8B-B14F-4D97-AF65-F5344CB8AC3E}">
        <p14:creationId xmlns:p14="http://schemas.microsoft.com/office/powerpoint/2010/main" val="2398118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987D-6594-28DD-7133-B646BC846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Assignment 1 (flexit and Omnissa Horizon Client)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323B0-D60A-1B95-3364-136D050F5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NZ" sz="7200"/>
              <a:t>curl --proto '=https' --tlsv1.2 -sSf https://sh.rustup.rs | sh</a:t>
            </a:r>
            <a:br>
              <a:rPr lang="en-NZ" sz="7200"/>
            </a:br>
            <a:endParaRPr lang="en-NZ" sz="7200"/>
          </a:p>
          <a:p>
            <a:r>
              <a:rPr lang="en-NZ" sz="7200"/>
              <a:t>rustup toolchain add nightly (ignore this if using flexit) </a:t>
            </a:r>
            <a:br>
              <a:rPr lang="en-NZ" sz="7200"/>
            </a:br>
            <a:endParaRPr lang="en-NZ" sz="7200"/>
          </a:p>
          <a:p>
            <a:r>
              <a:rPr lang="en-NZ" sz="7200"/>
              <a:t>source $HOME/.cargo/env</a:t>
            </a:r>
            <a:br>
              <a:rPr lang="en-NZ" sz="7200"/>
            </a:br>
            <a:endParaRPr lang="en-NZ" sz="7200"/>
          </a:p>
          <a:p>
            <a:r>
              <a:rPr lang="en-NZ" sz="7200"/>
              <a:t>Cd to target folder (before doing this, please clone the rust version of the assignment)</a:t>
            </a:r>
          </a:p>
          <a:p>
            <a:r>
              <a:rPr lang="en-NZ" sz="7200"/>
              <a:t>cargo build --release</a:t>
            </a:r>
            <a:br>
              <a:rPr lang="en-NZ" sz="7200"/>
            </a:br>
            <a:endParaRPr lang="en-NZ" sz="7200"/>
          </a:p>
          <a:p>
            <a:r>
              <a:rPr lang="en-NZ" sz="7200"/>
              <a:t>qemu-img create target/fs.img 2G</a:t>
            </a:r>
          </a:p>
          <a:p>
            <a:r>
              <a:rPr lang="en-NZ" sz="7200"/>
              <a:t>./mkfs.sh</a:t>
            </a:r>
            <a:br>
              <a:rPr lang="en-NZ" sz="7200"/>
            </a:br>
            <a:endParaRPr lang="en-NZ" sz="7200"/>
          </a:p>
          <a:p>
            <a:r>
              <a:rPr lang="en-NZ" sz="7200"/>
              <a:t>cargo run --release</a:t>
            </a:r>
            <a:br>
              <a:rPr lang="en-NZ" sz="7200"/>
            </a:br>
            <a:endParaRPr lang="en-NZ" sz="7200"/>
          </a:p>
          <a:p>
            <a:r>
              <a:rPr lang="en-NZ" sz="7200"/>
              <a:t>Ctrl a then x to exit</a:t>
            </a:r>
            <a:br>
              <a:rPr lang="en-NZ" sz="7200"/>
            </a:br>
            <a:endParaRPr lang="en-NZ" sz="7200"/>
          </a:p>
          <a:p>
            <a:r>
              <a:rPr lang="en-NZ" sz="7200"/>
              <a:t>cargo run --release to reboot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8068F-0E89-FFD2-D90B-40305F64BA1B}"/>
              </a:ext>
            </a:extLst>
          </p:cNvPr>
          <p:cNvSpPr txBox="1"/>
          <p:nvPr/>
        </p:nvSpPr>
        <p:spPr>
          <a:xfrm>
            <a:off x="10356111" y="5160243"/>
            <a:ext cx="15417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9600"/>
              <a:t>🙂</a:t>
            </a:r>
            <a:endParaRPr lang="en-US" sz="9600"/>
          </a:p>
        </p:txBody>
      </p:sp>
    </p:spTree>
    <p:extLst>
      <p:ext uri="{BB962C8B-B14F-4D97-AF65-F5344CB8AC3E}">
        <p14:creationId xmlns:p14="http://schemas.microsoft.com/office/powerpoint/2010/main" val="4294190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189C-7255-83D8-7457-EBBDF5CD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1: Basic xv6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0A2F6-9441-0C3D-16DB-692BA1DA9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Implement system call </a:t>
            </a:r>
            <a:r>
              <a:rPr lang="en-US" i="1" u="sng">
                <a:solidFill>
                  <a:schemeClr val="tx2">
                    <a:lumMod val="50000"/>
                    <a:lumOff val="50000"/>
                  </a:schemeClr>
                </a:solidFill>
              </a:rPr>
              <a:t>touch</a:t>
            </a:r>
          </a:p>
          <a:p>
            <a:r>
              <a:rPr lang="en-US"/>
              <a:t>Write program to demonstrate use of pipe for communication between the parent and children process</a:t>
            </a:r>
          </a:p>
          <a:p>
            <a:r>
              <a:rPr lang="en-US"/>
              <a:t>Write program to demonstrate the use of fork to spawn child process from parent process</a:t>
            </a:r>
          </a:p>
          <a:p>
            <a:r>
              <a:rPr lang="en-US"/>
              <a:t>Write program to demonstrate the use of pipe and fork to filter all prime numbers within the range of a given parameter. </a:t>
            </a:r>
          </a:p>
          <a:p>
            <a:endParaRPr lang="en-US"/>
          </a:p>
          <a:p>
            <a:endParaRPr lang="en-US" i="1" u="sn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C7ACF-CDD5-B8E7-86B0-E3E8D9EFFF6C}"/>
              </a:ext>
            </a:extLst>
          </p:cNvPr>
          <p:cNvSpPr txBox="1"/>
          <p:nvPr/>
        </p:nvSpPr>
        <p:spPr>
          <a:xfrm>
            <a:off x="10523575" y="5527070"/>
            <a:ext cx="19271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9600"/>
              <a:t>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67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E1F4A-002D-0886-7854-9EA601B9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2: replace/modify existing 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6FE3C-373A-33F5-B14C-41EA7B21D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Limit to </a:t>
            </a:r>
            <a:r>
              <a:rPr lang="en-US" u="sng"/>
              <a:t>1 CPU </a:t>
            </a:r>
            <a:r>
              <a:rPr lang="en-US"/>
              <a:t>only</a:t>
            </a:r>
          </a:p>
          <a:p>
            <a:r>
              <a:rPr lang="en-US"/>
              <a:t>Assign priority to process</a:t>
            </a:r>
          </a:p>
          <a:p>
            <a:r>
              <a:rPr lang="en-US"/>
              <a:t>Process run comply to priority</a:t>
            </a:r>
          </a:p>
          <a:p>
            <a:r>
              <a:rPr lang="en-US"/>
              <a:t>Scheduling algorithm to break priority tie (Round Robin)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45911-3DC9-7558-D35D-3CC16183B8BF}"/>
              </a:ext>
            </a:extLst>
          </p:cNvPr>
          <p:cNvSpPr txBox="1"/>
          <p:nvPr/>
        </p:nvSpPr>
        <p:spPr>
          <a:xfrm>
            <a:off x="10417249" y="5392133"/>
            <a:ext cx="16932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9600"/>
              <a:t>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1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DE0E1-08D0-555B-D2F9-8F447B10D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to modify for part 2?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F4E9AC-EF47-A21D-8944-36205CE74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521" r="-2" b="22404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8D7E51-538E-805F-E9D2-01B0BD9064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49" b="1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39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448</Words>
  <Application>Microsoft Macintosh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Tutorial 2</vt:lpstr>
      <vt:lpstr>2 Modes of OS</vt:lpstr>
      <vt:lpstr>2 Modes of OS</vt:lpstr>
      <vt:lpstr>Trap (user —&gt; kernel —&gt; user)</vt:lpstr>
      <vt:lpstr>Files and file descriptors</vt:lpstr>
      <vt:lpstr>Kernel structures</vt:lpstr>
      <vt:lpstr>PowerPoint Presentation</vt:lpstr>
      <vt:lpstr>Attendance</vt:lpstr>
      <vt:lpstr>PowerPoint Presentation</vt:lpstr>
      <vt:lpstr>Assignment 1</vt:lpstr>
      <vt:lpstr>Assignment 1 (flexit and Omnissa Horizon Client)</vt:lpstr>
      <vt:lpstr>Part 1: Basic xv6 interactions</vt:lpstr>
      <vt:lpstr>Part 2: replace/modify existing scheduler</vt:lpstr>
      <vt:lpstr>What to modify for part 2?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Jinghao Jiang</dc:creator>
  <cp:lastModifiedBy>Jinghao Jiang</cp:lastModifiedBy>
  <cp:revision>2</cp:revision>
  <dcterms:created xsi:type="dcterms:W3CDTF">2026-08-05T11:13:38Z</dcterms:created>
  <dcterms:modified xsi:type="dcterms:W3CDTF">2026-08-06T01:54:14Z</dcterms:modified>
</cp:coreProperties>
</file>