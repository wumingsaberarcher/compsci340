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008"/>
    <p:restoredTop sz="94658"/>
  </p:normalViewPr>
  <p:slideViewPr>
    <p:cSldViewPr snapToGrid="0">
      <p:cViewPr varScale="1">
        <p:scale>
          <a:sx n="120" d="100"/>
          <a:sy n="120" d="100"/>
        </p:scale>
        <p:origin x="28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10T10:34:59.68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1538 0 24575,'0'98'0,"0"-49"0,0 2 0,0 4 0,0 3 0,0 4 0,0 3 0,0 12 0,0 3 0,0 11 0,0 2 0,0-26 0,0 2 0,0-2 0,0 26 0,0-5 0,0-16 0,0-4 0,0-12 0,0-5 0,0 23 0,0-23 0,0-5 0,0 1 0,0 2 0,0 0 0,0-9 0,-1-14 0,-2-13 0,-2-11 0,-2-3 0,1 0 0,1 33 0,3 50 0,5-16 0,1 7 0,2 20 0,2 6-206,-3-26 0,0 1 0,0 0 206,0-1 0,0 1 0,-1-3 0,-1 28 0,-1-6 0,-2-18 0,0-7 0,0 21 0,0-33 0,0-14 0,0-1 0,0 3 618,0 5-618,0 2 0,0-2 0,0 1 0,0 2 0,0 0 0,-2-2 0,-1-9 0,0-10 0,1-8 0,1 18 0,-7 33 0,-7 24 0,4-40 0,-3 2 0,-5 5 0,-2 3 0,-5 8 0,-3 3 0,-5 9 0,-1 2 0,10-27 0,0 0 0,1-1 0,-10 23 0,2-2 0,4-12 0,2-2 0,3-10 0,2-2 0,-16 35 0,2-17 0,8-14 0,7-12 0,4-13 0,9-8 0,-1 6 0,-5 28 0,3-14 0,-2 5 0,-7 17 0,-1 4 0,-5 15 0,0 2 0,-1 1 0,-1 0 0,-3 1 0,1-1 0,2-6 0,0-3 0,1-7 0,0-2 0,1-7 0,0-2 0,6-12 0,0-3 0,-14 32 0,9-20 0,6-7 0,2-4 0,1 4 0,-3 8 0,-3 1 0,-1 3 0,-1-8 0,1-8 0,3-4 0,-2 0 0,-2 4 0,-1-2 0,1-3 0,2-6 0,1-6 0,0-2 0,1-2 0,-1 1 0,1-3 0,2-5 0,3-5 0,6-9 0,4-9 0,3-14 0,1-17 0,-6-22 0,-1-16 0,-3-5 0,1 9 0,6 20 0,0 17 0,3 10 0,0-1 0,0-5 0,0-3 0,0 1 0,0 10 0,0 15 0,6 20 0,5 21 0,5 14 0,2 6 0,-5 0 0,-4-2 0,-4-4 0,-3-9 0,-2-11 0,0-10 0,0-8 0,0-1 0,2-2 0,0 0 0,1-2 0,-2-2 0,-1 0 0,0-1 0,2 1 0,6-4 0,6-5 0,7-3 0,5-3 0,0-1 0,4-1 0,-4 1 0,-3 1 0,-3 0 0,-3 0 0,0 2 0,0 0 0,-1 1 0,-4-1 0,-2-1 0,-2 3 0,-3 0 0,-2 2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10T10:35:09.032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 0 24575,'15'89'0,"0"0"0,1 1 0,7-3 0,5 1 0,2 1 0,-5-13 0,1 2 0,1-1 0,2-2-469,10 12 0,1-3 0,-2-2 469,-7-9 0,-3-2 0,0 0 0,-3-3 0,0-1 0,-1 0 0,-2-1 0,0-1 0,-1-1 229,6 27 0,0-4-229,-4-13 0,-1-6 116,-6-17 1,-1-2-117,5 38 0,-7 3 0,-9-37 0,-2 1 358,-1 3 0,-2 1-358,1-6 0,0-3 0,0 25 0,0-30 0,1 3 0,13 14 0,13 18 0,-5-29 0,4 2 0,6 0 0,2 0 0,1 2 0,0 1 0,-1-1 0,-2-2 0,-5-6 0,-3-2 0,11 27 0,-9-16 0,-5-13 0,-3-10 0,-4-6 0,-2 1 0,-3 3 0,1 6 0,0 3 0,1 0 0,1-6 0,1-4 0,2-1 0,2 3 0,2 3 0,1 0 0,2 0 0,1-1 0,1 4 0,0 10 0,-1 8 0,-3 1 0,-2-1 0,-5-11 0,-2-8 0,-2-4 0,0-6 0,-1-3 0,-2-3 0,0-3 0,1 2 0,2 1 0,1 1 0,-1-3 0,-3-6 0,0-6 0,-2-6 0,0-10 0,-2-12 0,-2-23 0,0-21 0,0-15 0,0-4 0,0 17 0,0 17 0,0 20 0,2 10 0,0 2 0,3 0 0,0-1 0,-3 7 0,0 8 0,-2 14 0,-2 13 0,0 10 0,-4 4 0,1 0 0,-1 3 0,1-5 0,0-4 0,0-7 0,3-3 0,0 4 0,-1 7 0,0 1 0,0-2 0,2-5 0,1-10 0,0-2 0,0-1 0,0 1 0,0 1 0,0-2 0,0-2 0,0-3 0,-3-2 0,-2-1 0,-13-2 0,-16-5 0,-7-4 0,-3-6 0,12-10 0,12-5 0,9 0 0,7 4 0,2 9 0,1 6 0,-1 2 0,-1 2 0,-7-5 0,-7-4 0,-5-2 0,-2 0 0,5 4 0,6 5 0,1 3 0,1 2 0,1 2 0,3 0 0,3 0 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B876BD-C868-19AD-088F-B46853C4421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CCA27D0-D036-A180-F8E4-8633D8D0155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FB8985-E4FE-0C2A-144B-FCA3F1D6FC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242382-F75F-6946-BE99-0AE69B369340}" type="datetimeFigureOut">
              <a:rPr lang="en-US" smtClean="0"/>
              <a:t>8/10/26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48F675-2933-F29E-0DC0-4B8F09ECBF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15460D-DDE1-AA51-0DE7-9DCDD35748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281AD4-B1B7-F244-9F98-F3C5E7BB44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17667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270A80-2510-B1DC-33AA-A2889BF1F1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3875F4-43FD-05CE-1D6D-E62883E4C4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905E07-D59C-7B6E-E767-8731AFC82B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242382-F75F-6946-BE99-0AE69B369340}" type="datetimeFigureOut">
              <a:rPr lang="en-US" smtClean="0"/>
              <a:t>8/10/26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445000-D285-0439-F0BD-FDC0B9FF9C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92800B-F726-0158-66D4-528ABD9311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281AD4-B1B7-F244-9F98-F3C5E7BB44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54827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842191-AF68-BA0D-9026-8CFF96AAF1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53A944-F655-2977-3C82-D850DCCE61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C9369A-2743-5119-C060-59242E1D44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242382-F75F-6946-BE99-0AE69B369340}" type="datetimeFigureOut">
              <a:rPr lang="en-US" smtClean="0"/>
              <a:t>8/10/26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FBEF8D-5DA4-167E-34D5-51A22E3A0E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CB043C-96D4-8926-BEF8-53A03493C5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281AD4-B1B7-F244-9F98-F3C5E7BB44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25579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78D678-A0A2-67E3-4B51-82BDC22814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B90BAA-5067-7B70-1926-E1808428E71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76627A8-AA95-2363-DA77-DA02C556A5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0A1E3B1-FBF2-730F-3465-98DCCFE61A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242382-F75F-6946-BE99-0AE69B369340}" type="datetimeFigureOut">
              <a:rPr lang="en-US" smtClean="0"/>
              <a:t>8/10/26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113E23C-A35C-C60D-845E-3D55EEBB7C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ED569A3-23CC-F916-4314-29FEFD3E66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281AD4-B1B7-F244-9F98-F3C5E7BB44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14897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F16D3C-F191-8409-2F6B-07F1C59F9C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CDDE08-067C-F014-108A-A4E96595D9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76B2C40-4C61-83B0-CA20-468C337FC4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D8CD684-0AAB-44A0-9DB3-FC91F84B3E1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BF92190-2352-E576-BE5D-DC6B718E7C5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F1CACAE-576B-1951-DFE0-372157A73F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242382-F75F-6946-BE99-0AE69B369340}" type="datetimeFigureOut">
              <a:rPr lang="en-US" smtClean="0"/>
              <a:t>8/10/26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7F420F0-4E1B-3118-5562-EEE55079A0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3190429-EC90-7322-C16D-DEFC1145EC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281AD4-B1B7-F244-9F98-F3C5E7BB44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87901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27F2E5-4D78-5D82-E0BF-F7436DA970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9A7C9DB-078D-B672-B103-270F23453B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242382-F75F-6946-BE99-0AE69B369340}" type="datetimeFigureOut">
              <a:rPr lang="en-US" smtClean="0"/>
              <a:t>8/10/26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7873A0A-A927-EE4D-72E5-440344D228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BBF0076-70F0-9BB4-0F97-A97B48C007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281AD4-B1B7-F244-9F98-F3C5E7BB44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77960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B98581C-4FC0-19C9-4CA3-BD0D9E7670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242382-F75F-6946-BE99-0AE69B369340}" type="datetimeFigureOut">
              <a:rPr lang="en-US" smtClean="0"/>
              <a:t>8/10/26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D564AD5-EBC6-CB26-24FD-30F149FDFD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89E677-B0DF-7F7B-EFF8-9B58389457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281AD4-B1B7-F244-9F98-F3C5E7BB44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83632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E47E2B-A2A2-D56C-A5BB-45294846CA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14E479-C448-6D4C-538F-355D08C11B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F2806BC-B056-D54D-7D08-412EE2CAE4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EB5CC91-B4FA-8B2E-766E-3B5A7008FA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242382-F75F-6946-BE99-0AE69B369340}" type="datetimeFigureOut">
              <a:rPr lang="en-US" smtClean="0"/>
              <a:t>8/10/26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E92DDF-8D13-39D5-568A-F608FFE832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1A9BD6-7C6F-CE40-2A39-46463C1E17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281AD4-B1B7-F244-9F98-F3C5E7BB44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45031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709AA4-FD62-CE6F-B478-158C6A0F08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814E5DB-55A2-AE37-ED6C-8714790D433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35871FD-70FD-24FF-5867-0C16D867E2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6A1494-E4D7-B948-3510-C0658254F1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242382-F75F-6946-BE99-0AE69B369340}" type="datetimeFigureOut">
              <a:rPr lang="en-US" smtClean="0"/>
              <a:t>8/10/26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4FC1F88-CE6D-C1D2-E393-727E7550BF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99C7A5A-989A-9F47-CF1F-0180B573AA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281AD4-B1B7-F244-9F98-F3C5E7BB44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53303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32CBB1-E140-326D-D313-75B50D04B1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545AAE3-2446-B542-8914-930F62EA4CB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F78E4C-A663-44C2-86BF-308AFB7642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242382-F75F-6946-BE99-0AE69B369340}" type="datetimeFigureOut">
              <a:rPr lang="en-US" smtClean="0"/>
              <a:t>8/10/26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3E7982-310D-C8F0-5F13-5699C6BE05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50DAC5-2172-4CB1-5031-7080B9ADB8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281AD4-B1B7-F244-9F98-F3C5E7BB44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52919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7688D52-EF36-80DA-4B6A-783E639ED3C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3787C3B-8CC8-B9E6-7581-21498EA712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68E41D-919B-EFA3-72CC-BD4CB93DE8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242382-F75F-6946-BE99-0AE69B369340}" type="datetimeFigureOut">
              <a:rPr lang="en-US" smtClean="0"/>
              <a:t>8/10/26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E2B0B8-7618-7E39-B155-8E8BC73D62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DFB76E-FE0A-AECA-1519-6A7276A3D5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281AD4-B1B7-F244-9F98-F3C5E7BB44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31097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CBFA65A-1C79-B5D5-D421-4B9023DAC7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FE47A95-F7ED-95B6-1308-34A344FD31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FC4A4B-4CF9-7164-8677-D4B06F394FB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5242382-F75F-6946-BE99-0AE69B369340}" type="datetimeFigureOut">
              <a:rPr lang="en-US" smtClean="0"/>
              <a:t>8/10/26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482151-080A-F9C8-7B1A-7DD864F0D3B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B3ECDC-A21B-8F14-F989-083E94314D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C281AD4-B1B7-F244-9F98-F3C5E7BB44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49139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7" Type="http://schemas.openxmlformats.org/officeDocument/2006/relationships/image" Target="../media/image11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customXml" Target="../ink/ink2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5CBC3B-5A9A-F1D9-43B0-E27CC810936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Process and Program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F7FA097-D5CC-8340-342A-0E486A372FF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00F24D5-99D9-1791-1CBA-BB49365DD882}"/>
              </a:ext>
            </a:extLst>
          </p:cNvPr>
          <p:cNvSpPr txBox="1"/>
          <p:nvPr/>
        </p:nvSpPr>
        <p:spPr>
          <a:xfrm>
            <a:off x="9835117" y="6337004"/>
            <a:ext cx="22000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Delivered by Jinghao</a:t>
            </a:r>
          </a:p>
        </p:txBody>
      </p:sp>
    </p:spTree>
    <p:extLst>
      <p:ext uri="{BB962C8B-B14F-4D97-AF65-F5344CB8AC3E}">
        <p14:creationId xmlns:p14="http://schemas.microsoft.com/office/powerpoint/2010/main" val="20313581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353646-7C36-6A68-B9CE-4D9409DA28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Process and Program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7FA46C-C822-7272-1F3B-6DF3263DF6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851622"/>
          </a:xfrm>
        </p:spPr>
        <p:txBody>
          <a:bodyPr>
            <a:normAutofit/>
          </a:bodyPr>
          <a:lstStyle/>
          <a:p>
            <a:r>
              <a:rPr lang="en-US"/>
              <a:t>A program is static, including instructions and data, all of which are stored in an executable file. </a:t>
            </a:r>
          </a:p>
          <a:p>
            <a:r>
              <a:rPr lang="en-US"/>
              <a:t>A process is a running instance of a program, including states such as CPU allocation, PCB and program counter… </a:t>
            </a:r>
          </a:p>
          <a:p>
            <a:endParaRPr lang="en-US"/>
          </a:p>
          <a:p>
            <a:endParaRPr lang="en-US"/>
          </a:p>
          <a:p>
            <a:r>
              <a:rPr lang="en-US"/>
              <a:t>Analogy: A company allocates tasks to workers. Each task can be considered as a program, it defines what to do. Which worker (cpu) picks up the task, how the worker handles the task (memory, registers …) are considered a process.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552B574-35ED-1290-B2C2-D511A6A8C9A3}"/>
              </a:ext>
            </a:extLst>
          </p:cNvPr>
          <p:cNvSpPr txBox="1"/>
          <p:nvPr/>
        </p:nvSpPr>
        <p:spPr>
          <a:xfrm>
            <a:off x="10611294" y="365125"/>
            <a:ext cx="1127051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0"/>
              <a:t>🤔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D05EE42-25B5-E0DA-276C-E786CECCABCD}"/>
              </a:ext>
            </a:extLst>
          </p:cNvPr>
          <p:cNvSpPr txBox="1"/>
          <p:nvPr/>
        </p:nvSpPr>
        <p:spPr>
          <a:xfrm>
            <a:off x="9663624" y="3519407"/>
            <a:ext cx="1082348" cy="116955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000"/>
              <a:t>💡</a:t>
            </a:r>
          </a:p>
        </p:txBody>
      </p:sp>
    </p:spTree>
    <p:extLst>
      <p:ext uri="{BB962C8B-B14F-4D97-AF65-F5344CB8AC3E}">
        <p14:creationId xmlns:p14="http://schemas.microsoft.com/office/powerpoint/2010/main" val="14912079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FB2215-BAD8-8686-9151-0D114668DD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PCB – Process Control Block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C80C10-CD95-5015-FFD0-A88B41D463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Everything the kernel needs to know about a process is stored here.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BB9505E-61EB-D1E4-3EE0-4C5F984DE8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4223" y="2668772"/>
            <a:ext cx="9910444" cy="4154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88724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BDF142-1411-C70C-5033-5FE12C72BF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Creating a process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CB7B27-0C95-DCFB-CC7F-B91DEE52CC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/>
              <a:t>Allocate kernel bookkeeping and address space (Do we allocate virtual or physical memory? </a:t>
            </a:r>
            <a:r>
              <a:rPr lang="en-US" i="1" u="sng">
                <a:highlight>
                  <a:srgbClr val="FFFF00"/>
                </a:highlight>
              </a:rPr>
              <a:t>Demand Paging</a:t>
            </a:r>
            <a:r>
              <a:rPr lang="en-US"/>
              <a:t>)</a:t>
            </a:r>
          </a:p>
          <a:p>
            <a:pPr marL="514350" indent="-514350">
              <a:buFont typeface="+mj-lt"/>
              <a:buAutoNum type="arabicPeriod"/>
            </a:pPr>
            <a:r>
              <a:rPr lang="en-US"/>
              <a:t>Establish initial resource like stdin stdout and stderr </a:t>
            </a:r>
          </a:p>
          <a:p>
            <a:pPr marL="514350" indent="-514350">
              <a:buFont typeface="+mj-lt"/>
              <a:buAutoNum type="arabicPeriod"/>
            </a:pPr>
            <a:r>
              <a:rPr lang="en-US"/>
              <a:t>Initialise registers</a:t>
            </a:r>
          </a:p>
          <a:p>
            <a:pPr marL="514350" indent="-514350">
              <a:buFont typeface="+mj-lt"/>
              <a:buAutoNum type="arabicPeriod"/>
            </a:pPr>
            <a:r>
              <a:rPr lang="en-US"/>
              <a:t>Process now ready to go (place in queue awaiting schedule)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7726CB5-9D83-A578-4841-8394A46B62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88" y="4537667"/>
            <a:ext cx="2618545" cy="163929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F1D8FE9-36E8-AFB0-BD62-408D664B73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32976" y="4026122"/>
            <a:ext cx="1058530" cy="246675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7342254-ED0F-631F-99EF-7517DC44740E}"/>
              </a:ext>
            </a:extLst>
          </p:cNvPr>
          <p:cNvSpPr txBox="1"/>
          <p:nvPr/>
        </p:nvSpPr>
        <p:spPr>
          <a:xfrm>
            <a:off x="3753293" y="4678325"/>
            <a:ext cx="38774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- A CPU is shared between processes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9AC9114-3556-F288-5A91-FAAF41EA637F}"/>
              </a:ext>
            </a:extLst>
          </p:cNvPr>
          <p:cNvSpPr txBox="1"/>
          <p:nvPr/>
        </p:nvSpPr>
        <p:spPr>
          <a:xfrm>
            <a:off x="7234582" y="5807631"/>
            <a:ext cx="34983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- Memory is </a:t>
            </a:r>
            <a:r>
              <a:rPr lang="en-US" strike="sngStrike"/>
              <a:t>also shared</a:t>
            </a:r>
            <a:r>
              <a:rPr lang="en-US"/>
              <a:t> isolated !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76A1BEA-77F6-2CE8-7466-C8C256FDE753}"/>
              </a:ext>
            </a:extLst>
          </p:cNvPr>
          <p:cNvSpPr txBox="1"/>
          <p:nvPr/>
        </p:nvSpPr>
        <p:spPr>
          <a:xfrm>
            <a:off x="1024988" y="6434951"/>
            <a:ext cx="71024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>
                <a:solidFill>
                  <a:schemeClr val="tx2">
                    <a:lumMod val="50000"/>
                    <a:lumOff val="50000"/>
                  </a:schemeClr>
                </a:solidFill>
              </a:rPr>
              <a:t>Threads</a:t>
            </a:r>
            <a:r>
              <a:rPr lang="en-US"/>
              <a:t>: workers of a process, does a portion of work within a process</a:t>
            </a:r>
          </a:p>
        </p:txBody>
      </p:sp>
    </p:spTree>
    <p:extLst>
      <p:ext uri="{BB962C8B-B14F-4D97-AF65-F5344CB8AC3E}">
        <p14:creationId xmlns:p14="http://schemas.microsoft.com/office/powerpoint/2010/main" val="23814725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7A5AF9-0D86-E140-5F26-753BAA075B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Lifecycle of a process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50717C7-933F-4164-6321-C4D1296A737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2651" y="1690688"/>
            <a:ext cx="11997947" cy="45612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03391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E0E612-B454-E576-ADEC-0E9240957B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Different process creation interface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3E3ED9-4C18-4F9C-9556-1B96A5C43C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Windows: CreateProcess</a:t>
            </a:r>
          </a:p>
          <a:p>
            <a:r>
              <a:rPr lang="en-US"/>
              <a:t>Posix: fork + exec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6EBC135-A488-95A7-F2EA-8A60C9237C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32407" y="1825625"/>
            <a:ext cx="2278616" cy="200202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0D5162B-A075-C5FA-B926-F9ED0B36F9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67589" y="3166730"/>
            <a:ext cx="2400300" cy="24384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FB77D1F-8DCB-5F93-4915-5F8AD7608B6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1325474" y="3962216"/>
            <a:ext cx="742115" cy="74427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36C2F026-C311-48CC-4144-E143B070FC0C}"/>
              </a:ext>
            </a:extLst>
          </p:cNvPr>
          <p:cNvSpPr txBox="1"/>
          <p:nvPr/>
        </p:nvSpPr>
        <p:spPr>
          <a:xfrm>
            <a:off x="8591107" y="5942568"/>
            <a:ext cx="29849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Where is ‘fork’ coming from?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07352AD-3F1F-10B9-3431-DDC03E8A9C68}"/>
              </a:ext>
            </a:extLst>
          </p:cNvPr>
          <p:cNvSpPr txBox="1"/>
          <p:nvPr/>
        </p:nvSpPr>
        <p:spPr>
          <a:xfrm>
            <a:off x="7304567" y="5942568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❓</a:t>
            </a:r>
          </a:p>
        </p:txBody>
      </p:sp>
    </p:spTree>
    <p:extLst>
      <p:ext uri="{BB962C8B-B14F-4D97-AF65-F5344CB8AC3E}">
        <p14:creationId xmlns:p14="http://schemas.microsoft.com/office/powerpoint/2010/main" val="24156383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88317D-2301-A77F-6D83-66C140CBF0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Fork()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B63B3122-5A07-2C30-972E-3A0650D4AE4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 rot="10800000">
            <a:off x="838200" y="1690688"/>
            <a:ext cx="3334011" cy="435133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6D434573-E3B3-E359-DA5E-73649C7701DE}"/>
                  </a:ext>
                </a:extLst>
              </p14:cNvPr>
              <p14:cNvContentPartPr/>
              <p14:nvPr/>
            </p14:nvContentPartPr>
            <p14:xfrm>
              <a:off x="1880740" y="2379131"/>
              <a:ext cx="563400" cy="290844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6D434573-E3B3-E359-DA5E-73649C7701DE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874620" y="2373011"/>
                <a:ext cx="575640" cy="2920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81E891AC-0F58-E678-78CE-DF35F7F67655}"/>
                  </a:ext>
                </a:extLst>
              </p14:cNvPr>
              <p14:cNvContentPartPr/>
              <p14:nvPr/>
            </p14:nvContentPartPr>
            <p14:xfrm>
              <a:off x="2452780" y="3708251"/>
              <a:ext cx="591480" cy="1669320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81E891AC-0F58-E678-78CE-DF35F7F67655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446660" y="3702131"/>
                <a:ext cx="603720" cy="1681560"/>
              </a:xfrm>
              <a:prstGeom prst="rect">
                <a:avLst/>
              </a:prstGeom>
            </p:spPr>
          </p:pic>
        </mc:Fallback>
      </mc:AlternateContent>
      <p:sp>
        <p:nvSpPr>
          <p:cNvPr id="10" name="TextBox 9">
            <a:extLst>
              <a:ext uri="{FF2B5EF4-FFF2-40B4-BE49-F238E27FC236}">
                <a16:creationId xmlns:a16="http://schemas.microsoft.com/office/drawing/2014/main" id="{433F0A5C-AD19-2964-7DC1-DEF296B88585}"/>
              </a:ext>
            </a:extLst>
          </p:cNvPr>
          <p:cNvSpPr txBox="1"/>
          <p:nvPr/>
        </p:nvSpPr>
        <p:spPr>
          <a:xfrm>
            <a:off x="2066463" y="1688583"/>
            <a:ext cx="8774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solidFill>
                  <a:srgbClr val="FF0000"/>
                </a:solidFill>
              </a:rPr>
              <a:t>Parent</a:t>
            </a:r>
            <a:r>
              <a:rPr lang="en-US"/>
              <a:t>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75C7D06-F470-7E70-94E6-4D006C13D6C2}"/>
              </a:ext>
            </a:extLst>
          </p:cNvPr>
          <p:cNvSpPr txBox="1"/>
          <p:nvPr/>
        </p:nvSpPr>
        <p:spPr>
          <a:xfrm>
            <a:off x="2848253" y="5672694"/>
            <a:ext cx="7152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solidFill>
                  <a:schemeClr val="tx2">
                    <a:lumMod val="75000"/>
                    <a:lumOff val="25000"/>
                  </a:schemeClr>
                </a:solidFill>
              </a:rPr>
              <a:t>Child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265B930-DCB2-1907-531C-320EC1D4D216}"/>
              </a:ext>
            </a:extLst>
          </p:cNvPr>
          <p:cNvSpPr txBox="1"/>
          <p:nvPr/>
        </p:nvSpPr>
        <p:spPr>
          <a:xfrm>
            <a:off x="1255508" y="5646337"/>
            <a:ext cx="8309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solidFill>
                  <a:srgbClr val="FF0000"/>
                </a:solidFill>
              </a:rPr>
              <a:t>Parent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3961AAD-49CD-3433-C3EF-0106E276998D}"/>
              </a:ext>
            </a:extLst>
          </p:cNvPr>
          <p:cNvSpPr txBox="1"/>
          <p:nvPr/>
        </p:nvSpPr>
        <p:spPr>
          <a:xfrm>
            <a:off x="5214752" y="925034"/>
            <a:ext cx="572174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Return -1: creation failed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Return 0: in the child process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Return &gt;0: in the parent process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2D820739-74C2-E72B-73EA-CC5351D3D2E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01216" y="2846513"/>
            <a:ext cx="2535274" cy="2441058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D79BEA46-6256-0E32-31C6-75023BCB2C52}"/>
              </a:ext>
            </a:extLst>
          </p:cNvPr>
          <p:cNvSpPr txBox="1"/>
          <p:nvPr/>
        </p:nvSpPr>
        <p:spPr>
          <a:xfrm>
            <a:off x="5967204" y="2376304"/>
            <a:ext cx="333401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Execution order not guaranteed without synchronization!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791CC0C-7BA1-2166-72F3-F78EB898223B}"/>
              </a:ext>
            </a:extLst>
          </p:cNvPr>
          <p:cNvSpPr txBox="1"/>
          <p:nvPr/>
        </p:nvSpPr>
        <p:spPr>
          <a:xfrm>
            <a:off x="5967204" y="5609800"/>
            <a:ext cx="333401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Memory is </a:t>
            </a:r>
            <a:r>
              <a:rPr lang="en-US" strike="sngStrike"/>
              <a:t>isolated</a:t>
            </a:r>
            <a:r>
              <a:rPr lang="en-US"/>
              <a:t> shared at this instance! This sharing persists until the child attempts to change the parent memory.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4E2939D-7C80-0F59-F076-1C9EF2B7EDE7}"/>
              </a:ext>
            </a:extLst>
          </p:cNvPr>
          <p:cNvSpPr txBox="1"/>
          <p:nvPr/>
        </p:nvSpPr>
        <p:spPr>
          <a:xfrm>
            <a:off x="5514553" y="5010572"/>
            <a:ext cx="2642839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000" b="1">
                <a:solidFill>
                  <a:schemeClr val="tx2">
                    <a:lumMod val="75000"/>
                    <a:lumOff val="25000"/>
                  </a:schemeClr>
                </a:solidFill>
              </a:rPr>
              <a:t>Copy on Write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2B6197A-14A9-EE90-B648-6C1AB42265F0}"/>
              </a:ext>
            </a:extLst>
          </p:cNvPr>
          <p:cNvSpPr txBox="1"/>
          <p:nvPr/>
        </p:nvSpPr>
        <p:spPr>
          <a:xfrm>
            <a:off x="10271051" y="6209964"/>
            <a:ext cx="14338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trike="sngStrike">
                <a:solidFill>
                  <a:srgbClr val="FFC000"/>
                </a:solidFill>
              </a:rPr>
              <a:t>Mmap()?</a:t>
            </a:r>
          </a:p>
        </p:txBody>
      </p:sp>
    </p:spTree>
    <p:extLst>
      <p:ext uri="{BB962C8B-B14F-4D97-AF65-F5344CB8AC3E}">
        <p14:creationId xmlns:p14="http://schemas.microsoft.com/office/powerpoint/2010/main" val="19331306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996B94-D9BC-1BAE-315D-C0202CD16B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Execve()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208378-AEC0-064B-04A8-73FE12BB0D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Child call execve() to execute another program after creation. No later code (which is from the parent) after execve() will be executed. </a:t>
            </a:r>
          </a:p>
          <a:p>
            <a:r>
              <a:rPr lang="en-US"/>
              <a:t>Returns -1 if failed, no return if success. </a:t>
            </a:r>
          </a:p>
          <a:p>
            <a:r>
              <a:rPr lang="en-US"/>
              <a:t>Shell uses fork + exec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8F96556-8B89-7E23-6AEA-0ABDC7D356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38402" y="2826921"/>
            <a:ext cx="3965917" cy="385575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9C63CBD-B8DF-4596-366B-870E83E7D928}"/>
              </a:ext>
            </a:extLst>
          </p:cNvPr>
          <p:cNvSpPr txBox="1"/>
          <p:nvPr/>
        </p:nvSpPr>
        <p:spPr>
          <a:xfrm>
            <a:off x="212651" y="4754797"/>
            <a:ext cx="6726521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000" b="1">
                <a:solidFill>
                  <a:srgbClr val="00B0F0"/>
                </a:solidFill>
              </a:rPr>
              <a:t>Difference between exec and execve?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8A3C65D-F120-5A56-B9E6-03374F91E6CE}"/>
              </a:ext>
            </a:extLst>
          </p:cNvPr>
          <p:cNvSpPr txBox="1"/>
          <p:nvPr/>
        </p:nvSpPr>
        <p:spPr>
          <a:xfrm>
            <a:off x="1102517" y="5443732"/>
            <a:ext cx="49934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One is library function and another is system call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4EBEF34-6E5A-DD97-D90F-B063FCA10334}"/>
              </a:ext>
            </a:extLst>
          </p:cNvPr>
          <p:cNvSpPr txBox="1"/>
          <p:nvPr/>
        </p:nvSpPr>
        <p:spPr>
          <a:xfrm>
            <a:off x="212651" y="5308795"/>
            <a:ext cx="6097772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6000"/>
              <a:t>💡</a:t>
            </a:r>
          </a:p>
        </p:txBody>
      </p:sp>
    </p:spTree>
    <p:extLst>
      <p:ext uri="{BB962C8B-B14F-4D97-AF65-F5344CB8AC3E}">
        <p14:creationId xmlns:p14="http://schemas.microsoft.com/office/powerpoint/2010/main" val="35842788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B6741C-7E08-937D-DC17-6D50F21663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Processes after creation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FD82D7-FE0D-40AB-B7C4-D3DEB35E3A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Every process has a parent, their relationship can be drawn as a tree. Each process has its unique identifier pid.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031A7E3-92D9-4504-D47E-522B83DCFD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805" y="3000375"/>
            <a:ext cx="6438900" cy="3492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280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48FA67-B6E2-6912-A177-6CC76BFBB1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Process after execution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507865-8765-1250-CBCC-70BA66A290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Returns exit status (how the process exits: Success? Err? Killed?)</a:t>
            </a:r>
          </a:p>
          <a:p>
            <a:r>
              <a:rPr lang="en-US"/>
              <a:t>Parent collects these information by calling wait() or waitpid(). The parent is blocked if the child is still running while it calls wait.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A391141-3F7B-7F5A-F289-B751ADD606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9072" y="3574312"/>
            <a:ext cx="2209800" cy="21336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2FA4E4E-4E4E-0597-B714-AC2012D074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72623" y="3298875"/>
            <a:ext cx="1955357" cy="268447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1CDED52-0DEE-32AA-8DEF-BD81AE177956}"/>
              </a:ext>
            </a:extLst>
          </p:cNvPr>
          <p:cNvSpPr txBox="1"/>
          <p:nvPr/>
        </p:nvSpPr>
        <p:spPr>
          <a:xfrm>
            <a:off x="1259072" y="5846544"/>
            <a:ext cx="36894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>
                <a:solidFill>
                  <a:srgbClr val="00B0F0"/>
                </a:solidFill>
              </a:rPr>
              <a:t>Zombie</a:t>
            </a:r>
            <a:r>
              <a:rPr lang="en-US"/>
              <a:t>: Finish before parent calls wait()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A2FA18D-062D-9034-F23B-7086658D17BB}"/>
              </a:ext>
            </a:extLst>
          </p:cNvPr>
          <p:cNvSpPr txBox="1"/>
          <p:nvPr/>
        </p:nvSpPr>
        <p:spPr>
          <a:xfrm>
            <a:off x="7980813" y="6176963"/>
            <a:ext cx="41949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>
                <a:solidFill>
                  <a:srgbClr val="FF0000"/>
                </a:solidFill>
              </a:rPr>
              <a:t>Orphan</a:t>
            </a:r>
            <a:r>
              <a:rPr lang="en-US"/>
              <a:t>: Parent exit without calling wait()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8AFB2B7-345B-C026-E236-7CF301F7605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07296" y="3802912"/>
            <a:ext cx="1003300" cy="1905000"/>
          </a:xfrm>
          <a:prstGeom prst="rect">
            <a:avLst/>
          </a:prstGeom>
        </p:spPr>
      </p:pic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5B516C06-5FE0-6BE0-37E9-55CB5ED89BE3}"/>
              </a:ext>
            </a:extLst>
          </p:cNvPr>
          <p:cNvCxnSpPr>
            <a:cxnSpLocks/>
          </p:cNvCxnSpPr>
          <p:nvPr/>
        </p:nvCxnSpPr>
        <p:spPr>
          <a:xfrm flipH="1">
            <a:off x="7198242" y="4641111"/>
            <a:ext cx="197765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1690985B-43A7-6A0E-156E-51B06829E133}"/>
              </a:ext>
            </a:extLst>
          </p:cNvPr>
          <p:cNvSpPr txBox="1"/>
          <p:nvPr/>
        </p:nvSpPr>
        <p:spPr>
          <a:xfrm>
            <a:off x="7064539" y="4650061"/>
            <a:ext cx="23519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Get assigned a parent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A08E120-FF87-6C71-989D-9B1EA8298016}"/>
              </a:ext>
            </a:extLst>
          </p:cNvPr>
          <p:cNvSpPr txBox="1"/>
          <p:nvPr/>
        </p:nvSpPr>
        <p:spPr>
          <a:xfrm>
            <a:off x="10525494" y="2920594"/>
            <a:ext cx="11115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>
                <a:solidFill>
                  <a:schemeClr val="accent5">
                    <a:lumMod val="75000"/>
                  </a:schemeClr>
                </a:solidFill>
              </a:rPr>
              <a:t>getppid()</a:t>
            </a:r>
          </a:p>
        </p:txBody>
      </p:sp>
    </p:spTree>
    <p:extLst>
      <p:ext uri="{BB962C8B-B14F-4D97-AF65-F5344CB8AC3E}">
        <p14:creationId xmlns:p14="http://schemas.microsoft.com/office/powerpoint/2010/main" val="7161614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75D6C10-B5A7-4715-803E-0501C9C2CC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7A43F9B-FF07-FBD9-B298-9781059F47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552289"/>
            <a:ext cx="3976496" cy="3900326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How do processes communicate? 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B4B35374-B484-90C6-4DA6-6D43E581B1A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186557" y="1288294"/>
            <a:ext cx="6164194" cy="41145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981785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EA2FA3-DAB6-973E-38C4-0F336122CB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Pipe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D79D48-8DE0-FF30-AA2B-F703B67EF2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One</a:t>
            </a:r>
            <a:r>
              <a:rPr lang="zh-CN" altLang="en-US"/>
              <a:t> </a:t>
            </a:r>
            <a:r>
              <a:rPr lang="en-US" altLang="zh-CN"/>
              <a:t>sender; one receiver</a:t>
            </a:r>
          </a:p>
          <a:p>
            <a:r>
              <a:rPr lang="en-US"/>
              <a:t>Byte stream</a:t>
            </a:r>
          </a:p>
          <a:p>
            <a:r>
              <a:rPr lang="en-US"/>
              <a:t>Regular (Parent and child)</a:t>
            </a:r>
          </a:p>
          <a:p>
            <a:r>
              <a:rPr lang="en-US"/>
              <a:t>Named (processes)</a:t>
            </a:r>
          </a:p>
          <a:p>
            <a:r>
              <a:rPr lang="en-US"/>
              <a:t>Signal (kenel to process)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B925DCAE-C0F6-267D-4C8F-32B0BE3795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22605" y="1825625"/>
            <a:ext cx="5779290" cy="3857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030955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E41F13-A513-1931-A7F7-8B745A688F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pipe(fd); int fd[2]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C507D6-278A-35BE-CE9E-E8F33C0CC6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pipe[fd] returns file descriptors only to the calling process</a:t>
            </a:r>
          </a:p>
          <a:p>
            <a:r>
              <a:rPr lang="en-US"/>
              <a:t>A fork creates a child that inherits these descriptors</a:t>
            </a:r>
          </a:p>
          <a:p>
            <a:r>
              <a:rPr lang="en-US"/>
              <a:t>One is a read end and another is a write end. (Why?)</a:t>
            </a:r>
          </a:p>
          <a:p>
            <a:pPr marL="0" indent="0">
              <a:buNone/>
            </a:pPr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C91A1DD-7778-F50D-064F-9D25A30B92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14846" y="3595712"/>
            <a:ext cx="4345744" cy="289716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5C565B2-5B11-982E-C419-91040035D2E6}"/>
              </a:ext>
            </a:extLst>
          </p:cNvPr>
          <p:cNvSpPr txBox="1"/>
          <p:nvPr/>
        </p:nvSpPr>
        <p:spPr>
          <a:xfrm>
            <a:off x="2243471" y="5298465"/>
            <a:ext cx="61349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>
                <a:solidFill>
                  <a:schemeClr val="accent3">
                    <a:lumMod val="40000"/>
                    <a:lumOff val="60000"/>
                  </a:schemeClr>
                </a:solidFill>
              </a:rPr>
              <a:t>Idea</a:t>
            </a:r>
            <a:r>
              <a:rPr lang="en-US"/>
              <a:t>: Imagine these two kids speak the same time</a:t>
            </a:r>
          </a:p>
        </p:txBody>
      </p:sp>
    </p:spTree>
    <p:extLst>
      <p:ext uri="{BB962C8B-B14F-4D97-AF65-F5344CB8AC3E}">
        <p14:creationId xmlns:p14="http://schemas.microsoft.com/office/powerpoint/2010/main" val="405509571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2C61293E-6EBE-43EF-A52C-9BEBFD7679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7314C0E-A481-F9FA-1B28-E80EBC9D58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4296" y="329184"/>
            <a:ext cx="6894576" cy="1783080"/>
          </a:xfrm>
        </p:spPr>
        <p:txBody>
          <a:bodyPr anchor="b">
            <a:normAutofit/>
          </a:bodyPr>
          <a:lstStyle/>
          <a:p>
            <a:r>
              <a:rPr lang="en-US" sz="5400"/>
              <a:t>What will be printed?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7941103-D504-BF4A-42DE-4FAE0795751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916" b="6547"/>
          <a:stretch>
            <a:fillRect/>
          </a:stretch>
        </p:blipFill>
        <p:spPr>
          <a:xfrm>
            <a:off x="20" y="1"/>
            <a:ext cx="4052522" cy="6858000"/>
          </a:xfrm>
          <a:custGeom>
            <a:avLst/>
            <a:gdLst/>
            <a:ahLst/>
            <a:cxnLst/>
            <a:rect l="l" t="t" r="r" b="b"/>
            <a:pathLst>
              <a:path w="4052542" h="6858000">
                <a:moveTo>
                  <a:pt x="0" y="0"/>
                </a:moveTo>
                <a:lnTo>
                  <a:pt x="4020923" y="0"/>
                </a:lnTo>
                <a:lnTo>
                  <a:pt x="4022656" y="14697"/>
                </a:lnTo>
                <a:cubicBezTo>
                  <a:pt x="4037606" y="98462"/>
                  <a:pt x="4035072" y="183369"/>
                  <a:pt x="4039126" y="267642"/>
                </a:cubicBezTo>
                <a:cubicBezTo>
                  <a:pt x="4043941" y="370699"/>
                  <a:pt x="4037860" y="474136"/>
                  <a:pt x="4035579" y="577446"/>
                </a:cubicBezTo>
                <a:cubicBezTo>
                  <a:pt x="4033805" y="665399"/>
                  <a:pt x="4025063" y="753226"/>
                  <a:pt x="4027724" y="841306"/>
                </a:cubicBezTo>
                <a:cubicBezTo>
                  <a:pt x="4027914" y="844352"/>
                  <a:pt x="4027914" y="847398"/>
                  <a:pt x="4027724" y="850444"/>
                </a:cubicBezTo>
                <a:cubicBezTo>
                  <a:pt x="4019615" y="947281"/>
                  <a:pt x="4019615" y="1044626"/>
                  <a:pt x="4027724" y="1141464"/>
                </a:cubicBezTo>
                <a:cubicBezTo>
                  <a:pt x="4030296" y="1181772"/>
                  <a:pt x="4029574" y="1222221"/>
                  <a:pt x="4025570" y="1262415"/>
                </a:cubicBezTo>
                <a:cubicBezTo>
                  <a:pt x="4021769" y="1313563"/>
                  <a:pt x="4009606" y="1365472"/>
                  <a:pt x="4018348" y="1416238"/>
                </a:cubicBezTo>
                <a:cubicBezTo>
                  <a:pt x="4024037" y="1458058"/>
                  <a:pt x="4027166" y="1500194"/>
                  <a:pt x="4027724" y="1542394"/>
                </a:cubicBezTo>
                <a:cubicBezTo>
                  <a:pt x="4032158" y="1636820"/>
                  <a:pt x="4027977" y="1731753"/>
                  <a:pt x="4026330" y="1826433"/>
                </a:cubicBezTo>
                <a:cubicBezTo>
                  <a:pt x="4024556" y="1936724"/>
                  <a:pt x="4027344" y="2047015"/>
                  <a:pt x="4018475" y="2157432"/>
                </a:cubicBezTo>
                <a:cubicBezTo>
                  <a:pt x="4013597" y="2246629"/>
                  <a:pt x="4013597" y="2336029"/>
                  <a:pt x="4018475" y="2425226"/>
                </a:cubicBezTo>
                <a:cubicBezTo>
                  <a:pt x="4020882" y="2506961"/>
                  <a:pt x="4033172" y="2587934"/>
                  <a:pt x="4031145" y="2670557"/>
                </a:cubicBezTo>
                <a:cubicBezTo>
                  <a:pt x="4028737" y="2766886"/>
                  <a:pt x="4017335" y="2862962"/>
                  <a:pt x="4020882" y="2959546"/>
                </a:cubicBezTo>
                <a:cubicBezTo>
                  <a:pt x="4022529" y="3005617"/>
                  <a:pt x="4022656" y="3051688"/>
                  <a:pt x="4023543" y="3097758"/>
                </a:cubicBezTo>
                <a:cubicBezTo>
                  <a:pt x="4024683" y="3153221"/>
                  <a:pt x="4034692" y="3208556"/>
                  <a:pt x="4029117" y="3263892"/>
                </a:cubicBezTo>
                <a:cubicBezTo>
                  <a:pt x="4019869" y="3356161"/>
                  <a:pt x="3995923" y="3446906"/>
                  <a:pt x="4010873" y="3541459"/>
                </a:cubicBezTo>
                <a:cubicBezTo>
                  <a:pt x="4019108" y="3593495"/>
                  <a:pt x="4028357" y="3645658"/>
                  <a:pt x="4033172" y="3698201"/>
                </a:cubicBezTo>
                <a:cubicBezTo>
                  <a:pt x="4037353" y="3745160"/>
                  <a:pt x="4047868" y="3792881"/>
                  <a:pt x="4039886" y="3839586"/>
                </a:cubicBezTo>
                <a:cubicBezTo>
                  <a:pt x="4033045" y="3879565"/>
                  <a:pt x="4036592" y="3919544"/>
                  <a:pt x="4031271" y="3959523"/>
                </a:cubicBezTo>
                <a:cubicBezTo>
                  <a:pt x="4024303" y="4011939"/>
                  <a:pt x="4020629" y="4065244"/>
                  <a:pt x="4015308" y="4118042"/>
                </a:cubicBezTo>
                <a:cubicBezTo>
                  <a:pt x="4010620" y="4165889"/>
                  <a:pt x="4006946" y="4213610"/>
                  <a:pt x="4019615" y="4258539"/>
                </a:cubicBezTo>
                <a:cubicBezTo>
                  <a:pt x="4050656" y="4371622"/>
                  <a:pt x="4033679" y="4484070"/>
                  <a:pt x="4022023" y="4596391"/>
                </a:cubicBezTo>
                <a:cubicBezTo>
                  <a:pt x="4016321" y="4650965"/>
                  <a:pt x="4007959" y="4708712"/>
                  <a:pt x="4020629" y="4758718"/>
                </a:cubicBezTo>
                <a:cubicBezTo>
                  <a:pt x="4043941" y="4847432"/>
                  <a:pt x="4025697" y="4931705"/>
                  <a:pt x="4015561" y="5016866"/>
                </a:cubicBezTo>
                <a:cubicBezTo>
                  <a:pt x="4003335" y="5100174"/>
                  <a:pt x="4005096" y="5184929"/>
                  <a:pt x="4020756" y="5267654"/>
                </a:cubicBezTo>
                <a:cubicBezTo>
                  <a:pt x="4033172" y="5326035"/>
                  <a:pt x="4033172" y="5385432"/>
                  <a:pt x="4034692" y="5444194"/>
                </a:cubicBezTo>
                <a:cubicBezTo>
                  <a:pt x="4035579" y="5481001"/>
                  <a:pt x="4022023" y="5518441"/>
                  <a:pt x="4013027" y="5555120"/>
                </a:cubicBezTo>
                <a:cubicBezTo>
                  <a:pt x="3996937" y="5621371"/>
                  <a:pt x="3991109" y="5688636"/>
                  <a:pt x="4013027" y="5753237"/>
                </a:cubicBezTo>
                <a:cubicBezTo>
                  <a:pt x="4043561" y="5842713"/>
                  <a:pt x="4061045" y="5932189"/>
                  <a:pt x="4048375" y="6026870"/>
                </a:cubicBezTo>
                <a:cubicBezTo>
                  <a:pt x="4041027" y="6085251"/>
                  <a:pt x="4039380" y="6144902"/>
                  <a:pt x="4028357" y="6202522"/>
                </a:cubicBezTo>
                <a:cubicBezTo>
                  <a:pt x="4010240" y="6298091"/>
                  <a:pt x="4016701" y="6393024"/>
                  <a:pt x="4031145" y="6487196"/>
                </a:cubicBezTo>
                <a:cubicBezTo>
                  <a:pt x="4041293" y="6565885"/>
                  <a:pt x="4042395" y="6645474"/>
                  <a:pt x="4034439" y="6724403"/>
                </a:cubicBezTo>
                <a:lnTo>
                  <a:pt x="4025206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14" name="sketchy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54296" y="2395728"/>
            <a:ext cx="4243589" cy="18288"/>
          </a:xfrm>
          <a:custGeom>
            <a:avLst/>
            <a:gdLst>
              <a:gd name="csX0" fmla="*/ 0 w 4243589"/>
              <a:gd name="csY0" fmla="*/ 0 h 18288"/>
              <a:gd name="csX1" fmla="*/ 478919 w 4243589"/>
              <a:gd name="csY1" fmla="*/ 0 h 18288"/>
              <a:gd name="csX2" fmla="*/ 957839 w 4243589"/>
              <a:gd name="csY2" fmla="*/ 0 h 18288"/>
              <a:gd name="csX3" fmla="*/ 1521630 w 4243589"/>
              <a:gd name="csY3" fmla="*/ 0 h 18288"/>
              <a:gd name="csX4" fmla="*/ 2212729 w 4243589"/>
              <a:gd name="csY4" fmla="*/ 0 h 18288"/>
              <a:gd name="csX5" fmla="*/ 2734084 w 4243589"/>
              <a:gd name="csY5" fmla="*/ 0 h 18288"/>
              <a:gd name="csX6" fmla="*/ 3255439 w 4243589"/>
              <a:gd name="csY6" fmla="*/ 0 h 18288"/>
              <a:gd name="csX7" fmla="*/ 4243589 w 4243589"/>
              <a:gd name="csY7" fmla="*/ 0 h 18288"/>
              <a:gd name="csX8" fmla="*/ 4243589 w 4243589"/>
              <a:gd name="csY8" fmla="*/ 18288 h 18288"/>
              <a:gd name="csX9" fmla="*/ 3594926 w 4243589"/>
              <a:gd name="csY9" fmla="*/ 18288 h 18288"/>
              <a:gd name="csX10" fmla="*/ 3073571 w 4243589"/>
              <a:gd name="csY10" fmla="*/ 18288 h 18288"/>
              <a:gd name="csX11" fmla="*/ 2552216 w 4243589"/>
              <a:gd name="csY11" fmla="*/ 18288 h 18288"/>
              <a:gd name="csX12" fmla="*/ 1903553 w 4243589"/>
              <a:gd name="csY12" fmla="*/ 18288 h 18288"/>
              <a:gd name="csX13" fmla="*/ 1212454 w 4243589"/>
              <a:gd name="csY13" fmla="*/ 18288 h 18288"/>
              <a:gd name="csX14" fmla="*/ 733535 w 4243589"/>
              <a:gd name="csY14" fmla="*/ 18288 h 18288"/>
              <a:gd name="csX15" fmla="*/ 0 w 4243589"/>
              <a:gd name="csY15" fmla="*/ 18288 h 18288"/>
              <a:gd name="csX16" fmla="*/ 0 w 4243589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C4E6B309-524C-9971-49C9-3A274E69DE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54296" y="2706624"/>
            <a:ext cx="6894576" cy="3483864"/>
          </a:xfrm>
        </p:spPr>
        <p:txBody>
          <a:bodyPr>
            <a:normAutofit/>
          </a:bodyPr>
          <a:lstStyle/>
          <a:p>
            <a:r>
              <a:rPr lang="en-US" sz="2200"/>
              <a:t>A) Hello How are you? Goodbye</a:t>
            </a:r>
          </a:p>
          <a:p>
            <a:r>
              <a:rPr lang="en-US" sz="2200"/>
              <a:t>B) Hello</a:t>
            </a:r>
          </a:p>
        </p:txBody>
      </p:sp>
    </p:spTree>
    <p:extLst>
      <p:ext uri="{BB962C8B-B14F-4D97-AF65-F5344CB8AC3E}">
        <p14:creationId xmlns:p14="http://schemas.microsoft.com/office/powerpoint/2010/main" val="149980722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F13C74B1-5B17-4795-BED0-7140497B44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DE032A3-DC92-C148-6CED-5CE70C8BE8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325369"/>
            <a:ext cx="4368602" cy="1956841"/>
          </a:xfrm>
        </p:spPr>
        <p:txBody>
          <a:bodyPr anchor="b">
            <a:normAutofit/>
          </a:bodyPr>
          <a:lstStyle/>
          <a:p>
            <a:r>
              <a:rPr lang="en-US" sz="5400"/>
              <a:t>How about this?</a:t>
            </a:r>
          </a:p>
        </p:txBody>
      </p:sp>
      <p:sp>
        <p:nvSpPr>
          <p:cNvPr id="23" name="sketchy line">
            <a:extLst>
              <a:ext uri="{FF2B5EF4-FFF2-40B4-BE49-F238E27FC236}">
                <a16:creationId xmlns:a16="http://schemas.microsoft.com/office/drawing/2014/main" id="{D4974D33-8DC5-464E-8C6D-BE58F0669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80" y="2586994"/>
            <a:ext cx="3474720" cy="18288"/>
          </a:xfrm>
          <a:custGeom>
            <a:avLst/>
            <a:gdLst>
              <a:gd name="csX0" fmla="*/ 0 w 3474720"/>
              <a:gd name="csY0" fmla="*/ 0 h 18288"/>
              <a:gd name="csX1" fmla="*/ 694944 w 3474720"/>
              <a:gd name="csY1" fmla="*/ 0 h 18288"/>
              <a:gd name="csX2" fmla="*/ 1355141 w 3474720"/>
              <a:gd name="csY2" fmla="*/ 0 h 18288"/>
              <a:gd name="csX3" fmla="*/ 2015338 w 3474720"/>
              <a:gd name="csY3" fmla="*/ 0 h 18288"/>
              <a:gd name="csX4" fmla="*/ 2779776 w 3474720"/>
              <a:gd name="csY4" fmla="*/ 0 h 18288"/>
              <a:gd name="csX5" fmla="*/ 3474720 w 3474720"/>
              <a:gd name="csY5" fmla="*/ 0 h 18288"/>
              <a:gd name="csX6" fmla="*/ 3474720 w 3474720"/>
              <a:gd name="csY6" fmla="*/ 18288 h 18288"/>
              <a:gd name="csX7" fmla="*/ 2779776 w 3474720"/>
              <a:gd name="csY7" fmla="*/ 18288 h 18288"/>
              <a:gd name="csX8" fmla="*/ 2189074 w 3474720"/>
              <a:gd name="csY8" fmla="*/ 18288 h 18288"/>
              <a:gd name="csX9" fmla="*/ 1528877 w 3474720"/>
              <a:gd name="csY9" fmla="*/ 18288 h 18288"/>
              <a:gd name="csX10" fmla="*/ 868680 w 3474720"/>
              <a:gd name="csY10" fmla="*/ 18288 h 18288"/>
              <a:gd name="csX11" fmla="*/ 0 w 3474720"/>
              <a:gd name="csY11" fmla="*/ 18288 h 18288"/>
              <a:gd name="csX12" fmla="*/ 0 w 3474720"/>
              <a:gd name="csY12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474720" h="18288" fill="none" extrusionOk="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474720" h="18288" stroke="0" extrusionOk="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0CB47378-3FAA-2641-2A0A-0B2AFC086B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854611"/>
            <a:ext cx="4670097" cy="3320668"/>
          </a:xfrm>
        </p:spPr>
        <p:txBody>
          <a:bodyPr>
            <a:normAutofit/>
          </a:bodyPr>
          <a:lstStyle/>
          <a:p>
            <a:r>
              <a:rPr lang="en-US" sz="2200"/>
              <a:t>A) Hello\0How are you?\0Goodbye</a:t>
            </a:r>
          </a:p>
          <a:p>
            <a:r>
              <a:rPr lang="en-US" sz="2200"/>
              <a:t>B) Hello\0</a:t>
            </a:r>
          </a:p>
          <a:p>
            <a:r>
              <a:rPr lang="en-US" sz="2200"/>
              <a:t>C) Hello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288A27D8-0951-60F9-8559-34AC96DDA55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143" b="13859"/>
          <a:stretch>
            <a:fillRect/>
          </a:stretch>
        </p:blipFill>
        <p:spPr>
          <a:xfrm>
            <a:off x="5313225" y="18298"/>
            <a:ext cx="6878775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296017252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F13C74B1-5B17-4795-BED0-7140497B44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71CD3CE-B4F3-32FC-C9F7-B4CF44D956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325369"/>
            <a:ext cx="4368602" cy="1956841"/>
          </a:xfrm>
        </p:spPr>
        <p:txBody>
          <a:bodyPr anchor="b">
            <a:normAutofit/>
          </a:bodyPr>
          <a:lstStyle/>
          <a:p>
            <a:r>
              <a:rPr lang="en-US" sz="4200"/>
              <a:t>Unrelated process communication</a:t>
            </a:r>
          </a:p>
        </p:txBody>
      </p:sp>
      <p:sp>
        <p:nvSpPr>
          <p:cNvPr id="12" name="sketchy line">
            <a:extLst>
              <a:ext uri="{FF2B5EF4-FFF2-40B4-BE49-F238E27FC236}">
                <a16:creationId xmlns:a16="http://schemas.microsoft.com/office/drawing/2014/main" id="{D4974D33-8DC5-464E-8C6D-BE58F0669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80" y="2586994"/>
            <a:ext cx="3474720" cy="18288"/>
          </a:xfrm>
          <a:custGeom>
            <a:avLst/>
            <a:gdLst>
              <a:gd name="csX0" fmla="*/ 0 w 3474720"/>
              <a:gd name="csY0" fmla="*/ 0 h 18288"/>
              <a:gd name="csX1" fmla="*/ 694944 w 3474720"/>
              <a:gd name="csY1" fmla="*/ 0 h 18288"/>
              <a:gd name="csX2" fmla="*/ 1355141 w 3474720"/>
              <a:gd name="csY2" fmla="*/ 0 h 18288"/>
              <a:gd name="csX3" fmla="*/ 2015338 w 3474720"/>
              <a:gd name="csY3" fmla="*/ 0 h 18288"/>
              <a:gd name="csX4" fmla="*/ 2779776 w 3474720"/>
              <a:gd name="csY4" fmla="*/ 0 h 18288"/>
              <a:gd name="csX5" fmla="*/ 3474720 w 3474720"/>
              <a:gd name="csY5" fmla="*/ 0 h 18288"/>
              <a:gd name="csX6" fmla="*/ 3474720 w 3474720"/>
              <a:gd name="csY6" fmla="*/ 18288 h 18288"/>
              <a:gd name="csX7" fmla="*/ 2779776 w 3474720"/>
              <a:gd name="csY7" fmla="*/ 18288 h 18288"/>
              <a:gd name="csX8" fmla="*/ 2189074 w 3474720"/>
              <a:gd name="csY8" fmla="*/ 18288 h 18288"/>
              <a:gd name="csX9" fmla="*/ 1528877 w 3474720"/>
              <a:gd name="csY9" fmla="*/ 18288 h 18288"/>
              <a:gd name="csX10" fmla="*/ 868680 w 3474720"/>
              <a:gd name="csY10" fmla="*/ 18288 h 18288"/>
              <a:gd name="csX11" fmla="*/ 0 w 3474720"/>
              <a:gd name="csY11" fmla="*/ 18288 h 18288"/>
              <a:gd name="csX12" fmla="*/ 0 w 3474720"/>
              <a:gd name="csY12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474720" h="18288" fill="none" extrusionOk="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474720" h="18288" stroke="0" extrusionOk="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0D859E-B119-32AD-95BB-BCC7F68C5A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872899"/>
            <a:ext cx="4243589" cy="3320668"/>
          </a:xfrm>
        </p:spPr>
        <p:txBody>
          <a:bodyPr>
            <a:normAutofit/>
          </a:bodyPr>
          <a:lstStyle/>
          <a:p>
            <a:r>
              <a:rPr lang="en-US" sz="2000"/>
              <a:t>mkfifo(</a:t>
            </a:r>
            <a:r>
              <a:rPr lang="en-NZ" sz="2000"/>
              <a:t>const char *pathname, mode_t mode</a:t>
            </a:r>
            <a:r>
              <a:rPr lang="en-US" sz="2000"/>
              <a:t>) makes a named pipe</a:t>
            </a:r>
          </a:p>
          <a:p>
            <a:r>
              <a:rPr lang="en-US" sz="2000"/>
              <a:t>int fd = open(“</a:t>
            </a:r>
            <a:r>
              <a:rPr lang="en-NZ" sz="2000"/>
              <a:t>pathname”, O_RDONLY) reads from the pipe</a:t>
            </a:r>
          </a:p>
          <a:p>
            <a:r>
              <a:rPr lang="en-US" sz="2000"/>
              <a:t>int fd = open (“</a:t>
            </a:r>
            <a:r>
              <a:rPr lang="en-NZ" sz="2000"/>
              <a:t>pathname”, O_WRONLY) writes to the pipe</a:t>
            </a:r>
          </a:p>
          <a:p>
            <a:r>
              <a:rPr lang="en-NZ" sz="2000"/>
              <a:t>Blocking may happens if one end is opened but the other end is still awaiting a process.</a:t>
            </a:r>
            <a:endParaRPr lang="en-US" sz="200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B57A5B4-9ADA-FB87-29CB-BF9499A3437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3468" r="10301" b="-1"/>
          <a:stretch>
            <a:fillRect/>
          </a:stretch>
        </p:blipFill>
        <p:spPr>
          <a:xfrm>
            <a:off x="5311702" y="10"/>
            <a:ext cx="6878775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16428126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93C71D-EB87-9FF9-AAC6-D72BE8712C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Kernel’s message to user process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04A97A-6357-CC9B-DCCE-BEE318774A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Kernel sends signal to user process, user process upon these signals: accept default behaviour/ignore/define handling</a:t>
            </a:r>
          </a:p>
          <a:p>
            <a:r>
              <a:rPr lang="en-US"/>
              <a:t>Events (</a:t>
            </a:r>
            <a:r>
              <a:rPr lang="en-US" b="1" i="1" u="sng"/>
              <a:t>ctrl + c</a:t>
            </a:r>
            <a:r>
              <a:rPr lang="en-US"/>
              <a:t>, </a:t>
            </a:r>
            <a:r>
              <a:rPr lang="en-US" b="1" i="1" u="sng"/>
              <a:t>invalid memory access</a:t>
            </a:r>
            <a:r>
              <a:rPr lang="en-US"/>
              <a:t>, </a:t>
            </a:r>
            <a:r>
              <a:rPr lang="en-US" b="1" i="1" u="sng"/>
              <a:t>child terminates</a:t>
            </a:r>
            <a:r>
              <a:rPr lang="en-US"/>
              <a:t>, </a:t>
            </a:r>
            <a:r>
              <a:rPr lang="en-US" b="1" i="1" u="sng"/>
              <a:t>preemption</a:t>
            </a:r>
            <a:r>
              <a:rPr lang="en-US"/>
              <a:t>) cause the kernel to deliver a signal 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83E98F9-CB97-DD0A-094A-AC60995B25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56698" y="3547730"/>
            <a:ext cx="3256074" cy="31720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501653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D2D180-028E-11FB-3CD1-EEE9EC1412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Attendance</a:t>
            </a:r>
          </a:p>
        </p:txBody>
      </p:sp>
      <p:pic>
        <p:nvPicPr>
          <p:cNvPr id="4" name="Content Placeholder 3" descr="图片">
            <a:extLst>
              <a:ext uri="{FF2B5EF4-FFF2-40B4-BE49-F238E27FC236}">
                <a16:creationId xmlns:a16="http://schemas.microsoft.com/office/drawing/2014/main" id="{4D89D43B-63C2-E430-3E57-0902FBE55D6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920331" y="1825625"/>
            <a:ext cx="4351338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35134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3585</TotalTime>
  <Words>668</Words>
  <Application>Microsoft Macintosh PowerPoint</Application>
  <PresentationFormat>Widescreen</PresentationFormat>
  <Paragraphs>81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Aptos</vt:lpstr>
      <vt:lpstr>Aptos Display</vt:lpstr>
      <vt:lpstr>Arial</vt:lpstr>
      <vt:lpstr>Office Theme</vt:lpstr>
      <vt:lpstr>Process and Program</vt:lpstr>
      <vt:lpstr>Process and Program</vt:lpstr>
      <vt:lpstr>PCB – Process Control Block</vt:lpstr>
      <vt:lpstr>Creating a process</vt:lpstr>
      <vt:lpstr>Lifecycle of a process</vt:lpstr>
      <vt:lpstr>Different process creation interface</vt:lpstr>
      <vt:lpstr>Fork()</vt:lpstr>
      <vt:lpstr>Execve() </vt:lpstr>
      <vt:lpstr>Processes after creation</vt:lpstr>
      <vt:lpstr>Process after execution </vt:lpstr>
      <vt:lpstr>How do processes communicate? </vt:lpstr>
      <vt:lpstr>Pipe</vt:lpstr>
      <vt:lpstr>pipe(fd); int fd[2]</vt:lpstr>
      <vt:lpstr>What will be printed?</vt:lpstr>
      <vt:lpstr>How about this?</vt:lpstr>
      <vt:lpstr>Unrelated process communication</vt:lpstr>
      <vt:lpstr>Kernel’s message to user process</vt:lpstr>
      <vt:lpstr>Attendance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Jinghao Jiang</dc:creator>
  <cp:lastModifiedBy>Jinghao Jiang</cp:lastModifiedBy>
  <cp:revision>1</cp:revision>
  <dcterms:created xsi:type="dcterms:W3CDTF">2026-08-10T09:55:00Z</dcterms:created>
  <dcterms:modified xsi:type="dcterms:W3CDTF">2026-08-12T21:40:38Z</dcterms:modified>
</cp:coreProperties>
</file>