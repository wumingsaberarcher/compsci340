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71" r:id="rId9"/>
    <p:sldId id="272" r:id="rId10"/>
    <p:sldId id="274" r:id="rId11"/>
    <p:sldId id="273" r:id="rId12"/>
    <p:sldId id="283" r:id="rId13"/>
    <p:sldId id="275" r:id="rId14"/>
    <p:sldId id="277" r:id="rId15"/>
    <p:sldId id="278" r:id="rId16"/>
    <p:sldId id="279" r:id="rId17"/>
    <p:sldId id="280" r:id="rId18"/>
    <p:sldId id="292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58"/>
  </p:normalViewPr>
  <p:slideViewPr>
    <p:cSldViewPr snapToGrid="0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36473-8090-634B-9496-92EFED289BD2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263CA-AF2A-0243-94BA-A2F64CD2B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4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263CA-AF2A-0243-94BA-A2F64CD2BE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63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263CA-AF2A-0243-94BA-A2F64CD2BE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08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263CA-AF2A-0243-94BA-A2F64CD2BE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99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77EB-4593-52AC-931A-4F59427EF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EEE01-D6A0-BEC4-00C3-4B85FB004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30E9B-93C4-D711-64A1-F71B3890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93459-55D5-2841-BB8A-633FC28D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1FD9-0663-BFC9-A28D-395FD059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9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ACEEF-1AE0-3944-0432-7D5B8CFC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90B47-7657-693D-F10E-53F9359E7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2789-1C27-63FB-D799-B72D6C71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D8703-D081-6CAA-3BFC-381D62C7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ED161-ABEC-ECD3-D357-F93C50CD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3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871A-DB13-068C-1006-3428844C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709E0-EC69-DEA1-5C9B-B2B363F36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51A8-BB82-5310-223B-3942D4D2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4C55F-8B06-050E-ABA9-AAAC4CDE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DCA2-395A-83A8-82D8-5E5D4A86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5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048E-F9C3-B0F2-3DB2-68B13D5B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8954-08F9-3809-BD14-17CC7D0D7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458D5-1E19-2CA2-999F-48EB5A2C6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1E27A-828B-6227-51D2-E1244BE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9C54C-2283-075E-DC7E-4E8B80D0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F1FD8-CB41-BA73-B722-2D180289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3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FD7E-5FBD-1146-8B09-4CFAEBD6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6C553-143D-FCF5-5E4C-46CAD9D1A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DB8F4-1B4B-520F-2A62-AF52A150A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5FEA7-F6E4-E1ED-6F2C-F6488FCD4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D345E-9874-DF44-41C1-912203638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C83B0-3A8B-4844-ACCA-53D4001E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71C0C-AF02-CA77-04DF-B6B0577B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03B9C6-97A3-CD37-7D58-5B4DB964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5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B1B6-B5D5-3986-6F8E-324A9E95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A9AA5-6570-C426-84D4-7121D056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D4CEE-D2ED-C6DF-A0DC-B3C527F3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FDFEB-01D2-FECF-E855-FB118283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6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E7034-5008-9CDD-97D0-87DFCBBF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017FB-866E-3318-9FDA-657941A7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160C2-00ED-5F34-B46F-7A7C2C7E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3C23-C2D0-74C8-9012-62916B49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8BD8-9E50-2ABA-DD49-BEC3614E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D9644-6CF9-FA95-F7F4-1E5966D1D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4C3D0-20C5-F506-1C03-CC963A57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9D93F-A762-285A-DCA0-D13CA26F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898AC-2913-C086-5B7D-2D86EC19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0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064B-F2B6-52A9-700D-1430B1CD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446A-9433-8D02-AD1E-BE237F15C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0649E-998E-9738-0CBB-17B3115BB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0E6D1-A5B4-2EAE-98A2-D6E644D5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331E1-F991-8597-9809-4D76C824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4C881-6126-1FD7-DAC2-A6FA3068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4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7D27-E1F3-CA2F-5DD0-95C6F33F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3B3EF-8516-472E-990F-7581FC2B2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488FE-619C-2540-FD6A-D9D52872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592B4-129E-4EEC-CC2B-5162C201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7729-8C39-0304-3465-C3835535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5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4BE06-3265-D228-7405-FF3AB9FA0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923EC-F73D-760C-54B9-2C4791794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9EFA0-5B87-FF6D-4F4A-B3583627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9C5D8-B2F4-BAB8-D5DD-6FABCDDB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3971-C25C-3653-79B0-01253ED9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8435D-EE6C-7AB9-D137-252B62F5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581A6-ADFE-902D-67C4-3DB06286A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330F-A650-5929-441F-D1226E5D4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36943-45FE-6046-B64E-37BBE566479A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A1FE-F6AE-EED9-1489-406256C05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9935F-88E4-69F6-81DD-6FDF02D0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E9D92-2397-DB46-8CB4-3599B2FF2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3B71-0014-ECA4-360E-DB0A2D9AC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Tutorial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1C842-6B3F-8201-FCA1-303B90B7E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84B40-06B4-AE1D-4494-E091D903FFE6}"/>
              </a:ext>
            </a:extLst>
          </p:cNvPr>
          <p:cNvSpPr txBox="1"/>
          <p:nvPr/>
        </p:nvSpPr>
        <p:spPr>
          <a:xfrm>
            <a:off x="9730044" y="6488668"/>
            <a:ext cx="246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Delivered Jinghao Jiang</a:t>
            </a:r>
          </a:p>
        </p:txBody>
      </p:sp>
    </p:spTree>
    <p:extLst>
      <p:ext uri="{BB962C8B-B14F-4D97-AF65-F5344CB8AC3E}">
        <p14:creationId xmlns:p14="http://schemas.microsoft.com/office/powerpoint/2010/main" val="326861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2A1F-633E-55F3-9EC4-64FBD136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0CEC-8663-51C2-7235-42A3E6A11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C8276-4EE6-FA09-D88D-C265F71E3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E0DB8-CAD8-6D90-C40B-06507CD11D18}"/>
              </a:ext>
            </a:extLst>
          </p:cNvPr>
          <p:cNvSpPr txBox="1"/>
          <p:nvPr/>
        </p:nvSpPr>
        <p:spPr>
          <a:xfrm>
            <a:off x="9730044" y="6488668"/>
            <a:ext cx="246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Delivered Jinghao Jiang</a:t>
            </a:r>
          </a:p>
        </p:txBody>
      </p:sp>
    </p:spTree>
    <p:extLst>
      <p:ext uri="{BB962C8B-B14F-4D97-AF65-F5344CB8AC3E}">
        <p14:creationId xmlns:p14="http://schemas.microsoft.com/office/powerpoint/2010/main" val="2149103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1E07-662C-CBBD-E9C7-315BAD5E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9980-5D6A-0833-9B88-B83A4BF0B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On a computer, we have limited cpus, but many concurrent running tasks.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3256C-7B7A-2B02-E5CE-74CF095B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64" y="2803451"/>
            <a:ext cx="6159500" cy="381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EADB70-1F5A-38B6-659D-EE29A2BE5034}"/>
              </a:ext>
            </a:extLst>
          </p:cNvPr>
          <p:cNvSpPr txBox="1"/>
          <p:nvPr/>
        </p:nvSpPr>
        <p:spPr>
          <a:xfrm>
            <a:off x="6948322" y="2905780"/>
            <a:ext cx="48378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The </a:t>
            </a:r>
            <a:r>
              <a:rPr lang="en-US" sz="2800" b="1">
                <a:solidFill>
                  <a:srgbClr val="FFC000"/>
                </a:solidFill>
              </a:rPr>
              <a:t>scheduler</a:t>
            </a:r>
            <a:r>
              <a:rPr lang="en-US" sz="2800"/>
              <a:t> is like the chef of a kitchen. Many diners arrive at the same time, with different orders. Its job is to satisfy as many diners as possible with limited number of stove.  </a:t>
            </a:r>
          </a:p>
        </p:txBody>
      </p:sp>
    </p:spTree>
    <p:extLst>
      <p:ext uri="{BB962C8B-B14F-4D97-AF65-F5344CB8AC3E}">
        <p14:creationId xmlns:p14="http://schemas.microsoft.com/office/powerpoint/2010/main" val="172153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3737-59A0-F581-5CDC-57F5F254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4EE4-2034-4E71-B6BC-941C8B80D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Even in real life, different tasks have different priority. </a:t>
            </a:r>
          </a:p>
          <a:p>
            <a:r>
              <a:rPr lang="en-US"/>
              <a:t>(e.g NZQA unit standard 12349)</a:t>
            </a:r>
            <a:endParaRPr lang="en-US" strike="sngStrike"/>
          </a:p>
          <a:p>
            <a:r>
              <a:rPr lang="en-US"/>
              <a:t>Many factors influence priority of a task (e.g deadline, importance)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Scheduler </a:t>
            </a:r>
            <a:r>
              <a:rPr lang="en-US">
                <a:sym typeface="Wingdings" pitchFamily="2" charset="2"/>
              </a:rPr>
              <a:t> unit that </a:t>
            </a:r>
            <a:r>
              <a:rPr lang="en-US"/>
              <a:t>determines importance and execution order of processes. (so no single scheduler is the best, different designs may have different benefits)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2D3F8-C717-5C10-8778-7D3C29339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947" y="188887"/>
            <a:ext cx="1966137" cy="252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7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BD29-4F67-72C9-44D5-965586F75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becomes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5F998-BAF2-45A0-6682-B6C9E328F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Scheduler allocates a cpu for the process to run</a:t>
            </a:r>
          </a:p>
          <a:p>
            <a:r>
              <a:rPr lang="en-US"/>
              <a:t>load process data into registers then run (in user mode)</a:t>
            </a:r>
          </a:p>
          <a:p>
            <a:r>
              <a:rPr lang="en-US"/>
              <a:t>May happen in between: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request sys_service/exception/interrupt</a:t>
            </a:r>
          </a:p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Store current process states, enter kernel mode</a:t>
            </a:r>
          </a:p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Kernel do operations in trust memory, return back to user with saved states</a:t>
            </a:r>
          </a:p>
          <a:p>
            <a:r>
              <a:rPr lang="en-US"/>
              <a:t>Process yields cpu to another process due to exit/preemption</a:t>
            </a:r>
          </a:p>
          <a:p>
            <a:r>
              <a:rPr lang="en-US"/>
              <a:t>If preemption, save state of the current process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0A3FCCEE-C873-9920-8B13-4D6C7825E3FA}"/>
              </a:ext>
            </a:extLst>
          </p:cNvPr>
          <p:cNvSpPr/>
          <p:nvPr/>
        </p:nvSpPr>
        <p:spPr>
          <a:xfrm>
            <a:off x="308344" y="1910686"/>
            <a:ext cx="287079" cy="38840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14ECD-8A0E-9422-823C-654F0DA45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845" y="276446"/>
            <a:ext cx="1696336" cy="1938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5278C-377B-BA17-A9DB-4C8CDB572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094" y="5422854"/>
            <a:ext cx="1432590" cy="135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ECAD-7A0D-93ED-DFA9-A361E0FC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0DB96-C5BA-629B-7299-060BAD095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Wating time</a:t>
            </a:r>
          </a:p>
          <a:p>
            <a:r>
              <a:rPr lang="en-US"/>
              <a:t>Response time</a:t>
            </a:r>
          </a:p>
          <a:p>
            <a:r>
              <a:rPr lang="en-US"/>
              <a:t>Turnaround time</a:t>
            </a:r>
          </a:p>
          <a:p>
            <a:r>
              <a:rPr lang="en-US"/>
              <a:t>Throughput</a:t>
            </a:r>
          </a:p>
          <a:p>
            <a:r>
              <a:rPr lang="en-US"/>
              <a:t>Cpu utilization</a:t>
            </a:r>
          </a:p>
          <a:p>
            <a:r>
              <a:rPr lang="en-US"/>
              <a:t>Fairness</a:t>
            </a:r>
          </a:p>
          <a:p>
            <a:r>
              <a:rPr lang="en-US"/>
              <a:t>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B06F32-C019-D408-C15C-7F5630F76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674" y="1808378"/>
            <a:ext cx="4678326" cy="5049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73C4CA-51DD-3529-15FD-5AD6B7A3D6A3}"/>
              </a:ext>
            </a:extLst>
          </p:cNvPr>
          <p:cNvSpPr txBox="1"/>
          <p:nvPr/>
        </p:nvSpPr>
        <p:spPr>
          <a:xfrm>
            <a:off x="9028572" y="2530549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Pid = *</a:t>
            </a:r>
          </a:p>
        </p:txBody>
      </p:sp>
    </p:spTree>
    <p:extLst>
      <p:ext uri="{BB962C8B-B14F-4D97-AF65-F5344CB8AC3E}">
        <p14:creationId xmlns:p14="http://schemas.microsoft.com/office/powerpoint/2010/main" val="321968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04CD-4E11-07D1-5973-AA108689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04E9-82A1-EE70-1A3E-1EE021C00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tx2">
                    <a:lumMod val="25000"/>
                    <a:lumOff val="75000"/>
                  </a:schemeClr>
                </a:solidFill>
              </a:rPr>
              <a:t>FCFS</a:t>
            </a:r>
            <a:r>
              <a:rPr lang="en-US"/>
              <a:t>: early arriving process executes first until finish (No preemption)</a:t>
            </a:r>
          </a:p>
          <a:p>
            <a:r>
              <a:rPr lang="en-US" b="1">
                <a:solidFill>
                  <a:schemeClr val="accent2">
                    <a:lumMod val="40000"/>
                    <a:lumOff val="60000"/>
                  </a:schemeClr>
                </a:solidFill>
              </a:rPr>
              <a:t>SJF</a:t>
            </a:r>
            <a:r>
              <a:rPr lang="en-US"/>
              <a:t>: shortest job at instance of choosing a process, process occupy cpu until finish (No preemption)</a:t>
            </a:r>
          </a:p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SRTF</a:t>
            </a:r>
            <a:r>
              <a:rPr lang="en-US"/>
              <a:t>: job with shortest remaining burst time executes first (preemption active)</a:t>
            </a:r>
          </a:p>
          <a:p>
            <a:r>
              <a:rPr lang="en-US" b="1">
                <a:solidFill>
                  <a:schemeClr val="accent5">
                    <a:lumMod val="40000"/>
                    <a:lumOff val="60000"/>
                  </a:schemeClr>
                </a:solidFill>
              </a:rPr>
              <a:t>RR</a:t>
            </a:r>
            <a:r>
              <a:rPr lang="en-US" b="1"/>
              <a:t>: </a:t>
            </a:r>
            <a:r>
              <a:rPr lang="en-US"/>
              <a:t>FCFS with preemption, quantum (measured in ticks) is user-defined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4CFE4-CC08-0058-1BA1-2D4E2F835D09}"/>
              </a:ext>
            </a:extLst>
          </p:cNvPr>
          <p:cNvSpPr txBox="1"/>
          <p:nvPr/>
        </p:nvSpPr>
        <p:spPr>
          <a:xfrm>
            <a:off x="5315181" y="5988734"/>
            <a:ext cx="687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Minimize: #context switch/response time/wait time/turnaround time</a:t>
            </a:r>
          </a:p>
          <a:p>
            <a:r>
              <a:rPr lang="en-US"/>
              <a:t>Optimse: throughput/cpu utilization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43821-ADDB-90AA-94AD-98492DD299B1}"/>
              </a:ext>
            </a:extLst>
          </p:cNvPr>
          <p:cNvSpPr txBox="1"/>
          <p:nvPr/>
        </p:nvSpPr>
        <p:spPr>
          <a:xfrm>
            <a:off x="4232833" y="5821239"/>
            <a:ext cx="108234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/>
              <a:t>🌟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638B6-0237-3D77-DD4C-C19B938BE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143" y="57389"/>
            <a:ext cx="1878235" cy="19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C7B5-33AB-8469-1E78-5FCC5A2E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advanced schedulers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F1A92-EAF7-AF01-4A01-68330999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MLFQ (Multi level feedback queue): process arrives with high priority but priority degrades along with time spend on cpu</a:t>
            </a:r>
          </a:p>
          <a:p>
            <a:r>
              <a:rPr lang="en-US"/>
              <a:t>Process move to low priority but not finish may end up waiting and starve (new process keep coming) </a:t>
            </a:r>
          </a:p>
          <a:p>
            <a:r>
              <a:rPr lang="en-US"/>
              <a:t>Periodically lifts the priority of all runnable process can address the problem of starvation.</a:t>
            </a:r>
          </a:p>
          <a:p>
            <a:r>
              <a:rPr lang="en-US"/>
              <a:t>Give time for long jobs without starving short/new jobs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63454-D66B-624F-79B5-CBE461910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16096">
            <a:off x="6602692" y="384046"/>
            <a:ext cx="1439132" cy="68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2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40D0-C84A-0537-289B-24BB3148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Gaming (playing the rule)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0FE0-CFCA-93C5-C80B-748F94CF5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process deliberately yields before burst period ends. </a:t>
            </a:r>
          </a:p>
          <a:p>
            <a:r>
              <a:rPr lang="en-US"/>
              <a:t>Some MLFQ doesn’t account for this: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450AC-900E-08C6-523E-0A36D64AC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4116"/>
            <a:ext cx="5965160" cy="389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8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28DA-7E73-EC35-1F7A-2460E8DF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CPUs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0F2A-AAF3-439D-B400-67A8A5D5A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cpu runs process from a particular queue or a particular queue subset (inversely, also </a:t>
            </a:r>
            <a:r>
              <a:rPr lang="en-US" u="sng"/>
              <a:t>CPU affinity</a:t>
            </a:r>
            <a:r>
              <a:rPr lang="en-US"/>
              <a:t>) </a:t>
            </a:r>
          </a:p>
          <a:p>
            <a:r>
              <a:rPr lang="en-US"/>
              <a:t>Busy CPU offloads job to idle cpu </a:t>
            </a:r>
          </a:p>
        </p:txBody>
      </p:sp>
      <p:pic>
        <p:nvPicPr>
          <p:cNvPr id="4" name="Picture 3" descr="5 Reasons You Should Say NO to Multitasking - Hongkiat">
            <a:extLst>
              <a:ext uri="{FF2B5EF4-FFF2-40B4-BE49-F238E27FC236}">
                <a16:creationId xmlns:a16="http://schemas.microsoft.com/office/drawing/2014/main" id="{4FB3980A-5EBC-D54D-CA7B-CA70DC86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3352800"/>
            <a:ext cx="50800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2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6FFD-BB6A-0516-CA36-3AFEAAC0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policy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4BC8-1332-DF96-9AED-81FB15A0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Deadline aware scheduler </a:t>
            </a:r>
            <a:r>
              <a:rPr lang="en-US"/>
              <a:t>(prioritise task which ever is more urgent) </a:t>
            </a:r>
          </a:p>
          <a:p>
            <a:r>
              <a:rPr lang="en-US" b="1"/>
              <a:t>Real-Time Scheduler </a:t>
            </a:r>
            <a:r>
              <a:rPr lang="en-US"/>
              <a:t>uses nice value (from -20 to 20, which describes the relative importance) </a:t>
            </a:r>
            <a:r>
              <a:rPr lang="en-US" b="1"/>
              <a:t>or</a:t>
            </a:r>
            <a:r>
              <a:rPr lang="en-US"/>
              <a:t> static priority (from 0-99 like an absolute importance)</a:t>
            </a:r>
          </a:p>
          <a:p>
            <a:r>
              <a:rPr lang="en-US" b="1"/>
              <a:t>Linux CFS</a:t>
            </a:r>
            <a:r>
              <a:rPr lang="en-US"/>
              <a:t>: use </a:t>
            </a:r>
            <a:r>
              <a:rPr lang="en-US" i="1"/>
              <a:t>virtual runtime </a:t>
            </a:r>
            <a:r>
              <a:rPr lang="en-US"/>
              <a:t>(who received the least service so far?) (use </a:t>
            </a:r>
            <a:r>
              <a:rPr lang="en-US">
                <a:solidFill>
                  <a:schemeClr val="accent3"/>
                </a:solidFill>
              </a:rPr>
              <a:t>ordered tree </a:t>
            </a:r>
            <a:r>
              <a:rPr lang="en-US"/>
              <a:t>to find such process)</a:t>
            </a:r>
          </a:p>
          <a:p>
            <a:r>
              <a:rPr lang="en-US" b="1"/>
              <a:t>Linus EEVDF</a:t>
            </a:r>
            <a:r>
              <a:rPr lang="en-US"/>
              <a:t>: use </a:t>
            </a:r>
            <a:r>
              <a:rPr lang="en-US" i="1"/>
              <a:t>virtual deadline</a:t>
            </a:r>
            <a:r>
              <a:rPr lang="en-US"/>
              <a:t> (who’s request is more likely to due first so far?) (use </a:t>
            </a:r>
            <a:r>
              <a:rPr lang="en-US">
                <a:solidFill>
                  <a:schemeClr val="accent3"/>
                </a:solidFill>
              </a:rPr>
              <a:t>ordered tree </a:t>
            </a:r>
            <a:r>
              <a:rPr lang="en-US"/>
              <a:t>to find such process) Latency improves compared to CFS.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Deadline Icon SVG Vector &amp; PNG Free Download | UXWing">
            <a:extLst>
              <a:ext uri="{FF2B5EF4-FFF2-40B4-BE49-F238E27FC236}">
                <a16:creationId xmlns:a16="http://schemas.microsoft.com/office/drawing/2014/main" id="{F53CE7D9-CBB2-EFFC-250A-B19837A13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344" y="903914"/>
            <a:ext cx="1262912" cy="1573548"/>
          </a:xfrm>
          <a:prstGeom prst="rect">
            <a:avLst/>
          </a:prstGeom>
        </p:spPr>
      </p:pic>
      <p:pic>
        <p:nvPicPr>
          <p:cNvPr id="5" name="Picture 4" descr="Hay Wall Clock White">
            <a:extLst>
              <a:ext uri="{FF2B5EF4-FFF2-40B4-BE49-F238E27FC236}">
                <a16:creationId xmlns:a16="http://schemas.microsoft.com/office/drawing/2014/main" id="{2C49DB50-BF53-D798-FFFB-26AA7A4E5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397" y="3016251"/>
            <a:ext cx="888262" cy="1184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494D3A-9567-EEB5-F67D-23B710616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760" y="5336176"/>
            <a:ext cx="1172240" cy="13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6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A0C10-0B12-AF8E-87A2-69D4A8B6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1CFD-C5FC-E1ED-E1C8-18281A964C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9EDD0-66CA-3EBB-0C10-3071A384A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C8885-57B6-CE35-70CE-6E3EA16C30A3}"/>
              </a:ext>
            </a:extLst>
          </p:cNvPr>
          <p:cNvSpPr txBox="1"/>
          <p:nvPr/>
        </p:nvSpPr>
        <p:spPr>
          <a:xfrm>
            <a:off x="9730044" y="6488668"/>
            <a:ext cx="246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Delivered Jinghao Jiang</a:t>
            </a:r>
          </a:p>
        </p:txBody>
      </p:sp>
    </p:spTree>
    <p:extLst>
      <p:ext uri="{BB962C8B-B14F-4D97-AF65-F5344CB8AC3E}">
        <p14:creationId xmlns:p14="http://schemas.microsoft.com/office/powerpoint/2010/main" val="4089041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DDD9-626C-B3DA-756C-82EA6B59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5F7C1-2E70-997B-34E5-D3E4F9A4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Memory space is shared between processes, but each process see its memory as if it was private. (We call this the </a:t>
            </a:r>
            <a:r>
              <a:rPr lang="en-US" b="1">
                <a:solidFill>
                  <a:schemeClr val="accent1">
                    <a:lumMod val="40000"/>
                    <a:lumOff val="60000"/>
                  </a:schemeClr>
                </a:solidFill>
              </a:rPr>
              <a:t>address space</a:t>
            </a:r>
            <a:r>
              <a:rPr lang="en-US"/>
              <a:t> of a process)</a:t>
            </a:r>
          </a:p>
          <a:p>
            <a:r>
              <a:rPr lang="en-US"/>
              <a:t>Memory aware by the process is </a:t>
            </a:r>
            <a:r>
              <a:rPr lang="en-US" b="1">
                <a:solidFill>
                  <a:schemeClr val="accent5">
                    <a:lumMod val="60000"/>
                    <a:lumOff val="40000"/>
                  </a:schemeClr>
                </a:solidFill>
              </a:rPr>
              <a:t>virtual memory</a:t>
            </a:r>
            <a:r>
              <a:rPr lang="en-US"/>
              <a:t>, they get translated to physical memory by the memory management unit (MMU). </a:t>
            </a:r>
          </a:p>
          <a:p>
            <a:r>
              <a:rPr lang="en-US"/>
              <a:t>Memory is byte addressable, each memory address maps to a byte</a:t>
            </a:r>
          </a:p>
        </p:txBody>
      </p:sp>
    </p:spTree>
    <p:extLst>
      <p:ext uri="{BB962C8B-B14F-4D97-AF65-F5344CB8AC3E}">
        <p14:creationId xmlns:p14="http://schemas.microsoft.com/office/powerpoint/2010/main" val="2316520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A481-5530-7D27-8201-2A3A4B9C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CFE58-D1F5-ED6A-0C3B-9290D5F41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fix size block of memory, a block of virtual memory is called a page, a block of physical memory is called a frame</a:t>
            </a:r>
          </a:p>
          <a:p>
            <a:r>
              <a:rPr lang="en-US" b="1">
                <a:solidFill>
                  <a:schemeClr val="accent2">
                    <a:lumMod val="60000"/>
                    <a:lumOff val="40000"/>
                  </a:schemeClr>
                </a:solidFill>
              </a:rPr>
              <a:t>Page table </a:t>
            </a:r>
            <a:r>
              <a:rPr lang="en-US"/>
              <a:t>records the mapping of a page to a frame.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8D223C-E2F5-2AC7-3406-9545FE048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619" y="3301380"/>
            <a:ext cx="3442438" cy="343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9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D641-D569-1843-BC59-8D56B6ED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9D2FD-6CDC-1FD6-A54B-29D306BFB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It’s a mapping table, the virtual address itself partially becomes the index of the table. The corresponding value is the physical frame number. </a:t>
            </a:r>
          </a:p>
          <a:p>
            <a:r>
              <a:rPr lang="en-US"/>
              <a:t>The length of  the virtual address depends on the architecture, for example, my M2 mac is arm64, so it uses 64 bits to represent the a virtual address</a:t>
            </a:r>
          </a:p>
          <a:p>
            <a:r>
              <a:rPr lang="en-US"/>
              <a:t>Virtual address ≈ virtual page number + offset, page and frame on a device have the same size, this size determines the length of offset.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24E1D-10E4-1F22-CAE7-0B956B7A1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611" y="248183"/>
            <a:ext cx="2314501" cy="1442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118FC-FE97-A336-B630-6989DB0C3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701" y="0"/>
            <a:ext cx="1519643" cy="19227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378CD2-4D53-5067-0360-805E594BD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89" y="808073"/>
            <a:ext cx="695634" cy="7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82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3D74-0921-A8FB-CA32-3DBEDB66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C9BD-6FA5-FDF7-FDA3-D8C0F94B8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Page table is created process-wise. Each process only make use of few entries of that table, those empty slot can occupy a lot of memory</a:t>
            </a:r>
          </a:p>
          <a:p>
            <a:r>
              <a:rPr lang="en-US"/>
              <a:t>Solution: fit a page table into a page; split virtual address into indices. </a:t>
            </a:r>
          </a:p>
          <a:p>
            <a:r>
              <a:rPr lang="en-US"/>
              <a:t>Page table look up is slow, another smaller cache is used to store recently accessed virtual page numbers, this cache is called 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translation lookup buffer</a:t>
            </a:r>
            <a:r>
              <a:rPr lang="en-US"/>
              <a:t>. (Cache is cleared during context switch)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4289E-1096-B18C-2D29-B40253E6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762" y="5136715"/>
            <a:ext cx="1623237" cy="172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72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968C-360B-A289-C6BB-46338605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Visualisation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CEB98A-0AC0-A587-A1ED-8929CBC76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61546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B23DD0-092D-8819-6C5E-61CFE38B6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88" y="2765221"/>
            <a:ext cx="6648745" cy="327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01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9D6B-151E-79E5-2F3B-7C2DABDE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Attendance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FB113F-647B-98A8-62A8-8C6114F64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21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2A0D-15D6-0527-F264-C57D452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CD7F8-A2E3-D167-6D35-9F41BF8A7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Let </a:t>
            </a:r>
            <a:r>
              <a:rPr lang="en-US" i="1"/>
              <a:t>r</a:t>
            </a:r>
            <a:r>
              <a:rPr lang="en-US"/>
              <a:t> be the request period, </a:t>
            </a:r>
            <a:r>
              <a:rPr lang="en-US" i="1"/>
              <a:t>n</a:t>
            </a:r>
            <a:r>
              <a:rPr lang="en-US"/>
              <a:t> be the nice value, and t be the virtual start time  which of the following best describs </a:t>
            </a:r>
            <a:r>
              <a:rPr lang="en-US" b="1"/>
              <a:t>virtual runtime </a:t>
            </a:r>
            <a:r>
              <a:rPr lang="en-US"/>
              <a:t>and </a:t>
            </a:r>
            <a:r>
              <a:rPr lang="en-US" b="1"/>
              <a:t>virtual deadline</a:t>
            </a:r>
            <a:r>
              <a:rPr lang="en-US"/>
              <a:t> ?</a:t>
            </a:r>
          </a:p>
          <a:p>
            <a:pPr marL="0" indent="0">
              <a:buNone/>
            </a:pPr>
            <a:endParaRPr lang="en-US"/>
          </a:p>
          <a:p>
            <a:r>
              <a:rPr lang="en-US" b="1"/>
              <a:t>virtual runtime = </a:t>
            </a:r>
            <a:r>
              <a:rPr lang="en-US"/>
              <a:t>cpu time * n; </a:t>
            </a:r>
            <a:r>
              <a:rPr lang="en-US" b="1"/>
              <a:t>virtual deadline  = </a:t>
            </a:r>
            <a:r>
              <a:rPr lang="en-US"/>
              <a:t>t + rn</a:t>
            </a:r>
          </a:p>
          <a:p>
            <a:r>
              <a:rPr lang="en-US" b="1"/>
              <a:t>virtual runtime = </a:t>
            </a:r>
            <a:r>
              <a:rPr lang="en-US"/>
              <a:t>cpu time / n; </a:t>
            </a:r>
            <a:r>
              <a:rPr lang="en-US" b="1"/>
              <a:t>; virtual deadline</a:t>
            </a:r>
            <a:r>
              <a:rPr lang="en-US"/>
              <a:t> = t/r + n</a:t>
            </a:r>
          </a:p>
          <a:p>
            <a:r>
              <a:rPr lang="en-US" b="1"/>
              <a:t>virtual runtime = </a:t>
            </a:r>
            <a:r>
              <a:rPr lang="en-US"/>
              <a:t>cpu time + n</a:t>
            </a:r>
            <a:r>
              <a:rPr lang="en-US" b="1"/>
              <a:t>; virtual deadline</a:t>
            </a:r>
            <a:r>
              <a:rPr lang="en-US"/>
              <a:t> </a:t>
            </a:r>
            <a:r>
              <a:rPr lang="en-US" b="1"/>
              <a:t>= </a:t>
            </a:r>
            <a:r>
              <a:rPr lang="en-US"/>
              <a:t>t + n/r</a:t>
            </a:r>
          </a:p>
          <a:p>
            <a:r>
              <a:rPr lang="en-US" b="1"/>
              <a:t>virtual runtime = </a:t>
            </a:r>
            <a:r>
              <a:rPr lang="en-US"/>
              <a:t>n/cpu time</a:t>
            </a:r>
            <a:r>
              <a:rPr lang="en-US" b="1"/>
              <a:t>; virtual deadline</a:t>
            </a:r>
            <a:r>
              <a:rPr lang="en-US"/>
              <a:t> = t + r/n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7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ED2F-0DDD-B1C8-9CA7-9C7A718E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BD067-5F63-22DF-41D8-1E11A6B8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Which of the subsequent scenarios is likely make MLFQ </a:t>
            </a:r>
            <a:r>
              <a:rPr lang="en-US" b="1"/>
              <a:t>without</a:t>
            </a:r>
            <a:r>
              <a:rPr lang="en-US"/>
              <a:t> periodic priority boost  (multi level feedback queue) into trouble?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Begin a short job then continuous(infinite) long jobs arriving </a:t>
            </a:r>
          </a:p>
          <a:p>
            <a:r>
              <a:rPr lang="en-US"/>
              <a:t>Begin with a bunch(finite) of long jobs then a short job arrives</a:t>
            </a:r>
          </a:p>
          <a:p>
            <a:r>
              <a:rPr lang="en-US"/>
              <a:t>Begin a long job first then continuous(infinite) short jobs arriving</a:t>
            </a:r>
          </a:p>
          <a:p>
            <a:r>
              <a:rPr lang="en-US"/>
              <a:t>Begin with a bunch(finite) of short jobs then a long job arrives</a:t>
            </a:r>
          </a:p>
        </p:txBody>
      </p:sp>
    </p:spTree>
    <p:extLst>
      <p:ext uri="{BB962C8B-B14F-4D97-AF65-F5344CB8AC3E}">
        <p14:creationId xmlns:p14="http://schemas.microsoft.com/office/powerpoint/2010/main" val="626621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ECE1-4C45-B0E5-675A-27829D38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5DD2-4C8F-DA8C-1E6A-FE9E141C3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What does gaming refers? (Hint, gaming is a concept of multi level feedback queue, MLFQ), select the most accurate. </a:t>
            </a:r>
          </a:p>
          <a:p>
            <a:r>
              <a:rPr lang="en-US"/>
              <a:t>Long jobs blocked by short jobs</a:t>
            </a:r>
          </a:p>
          <a:p>
            <a:r>
              <a:rPr lang="en-US"/>
              <a:t>Process yield cpu to other process in a specialized pattern </a:t>
            </a:r>
          </a:p>
          <a:p>
            <a:r>
              <a:rPr lang="en-US"/>
              <a:t>Each queue maintain an unbalanced queue of process, which ends up with each cpu to have unbalanced workload, gaming helps to shuffle the work load between different queues. </a:t>
            </a:r>
          </a:p>
          <a:p>
            <a:r>
              <a:rPr lang="en-US"/>
              <a:t>A process occupies cpu and never give the cpu to other process by a special trick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31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E3A8-F9CF-C486-6298-3019B60B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7A89-D4FF-F72F-6C59-C9CBA5B2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Suppose the time to access a translation lookup buffer is 20ns, and the cache hit rate is 70%, each memory access is 90ns. What’s the expected time to fetch the physical memory if using a 4-level page table? </a:t>
            </a:r>
          </a:p>
        </p:txBody>
      </p:sp>
    </p:spTree>
    <p:extLst>
      <p:ext uri="{BB962C8B-B14F-4D97-AF65-F5344CB8AC3E}">
        <p14:creationId xmlns:p14="http://schemas.microsoft.com/office/powerpoint/2010/main" val="3969496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53E0-5168-2DFF-C861-98D08AAD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804D1-45D0-EFBD-7BEF-8225BF94B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 for hit: 20 + 90 = 110 ns </a:t>
            </a:r>
          </a:p>
          <a:p>
            <a:r>
              <a:rPr lang="en-US"/>
              <a:t>Time for miss: 20 + 5 * 90 = 470 ns</a:t>
            </a:r>
          </a:p>
          <a:p>
            <a:r>
              <a:rPr lang="en-US"/>
              <a:t>0.3 * 470 + 0.7 * 110 = 218 ns</a:t>
            </a:r>
          </a:p>
        </p:txBody>
      </p:sp>
    </p:spTree>
    <p:extLst>
      <p:ext uri="{BB962C8B-B14F-4D97-AF65-F5344CB8AC3E}">
        <p14:creationId xmlns:p14="http://schemas.microsoft.com/office/powerpoint/2010/main" val="1811840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8BD2-7A9C-239F-FFE8-A81E98C7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F93C-2588-2C86-14E4-A573F6990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page size = 4KiB, 27 VPN bits, represented by , What’s the ratio of memory size needed for a single level page table and a 4 levels page table? One byte is accessed. Compute ratio as (memory need by single level / memory needed by multi level), represent as a power of 2, i.e. 2 ^ n.  </a:t>
            </a:r>
          </a:p>
        </p:txBody>
      </p:sp>
    </p:spTree>
    <p:extLst>
      <p:ext uri="{BB962C8B-B14F-4D97-AF65-F5344CB8AC3E}">
        <p14:creationId xmlns:p14="http://schemas.microsoft.com/office/powerpoint/2010/main" val="2188588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531F-CD29-C999-8CB5-BBBFBDE4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627C5-909E-B063-63E4-215EC0FE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Single level: 27^2 * 8 = 2^30</a:t>
            </a:r>
          </a:p>
          <a:p>
            <a:r>
              <a:rPr lang="en-US"/>
              <a:t>4 level: 4 * 4096 = 2^2 * 2^12 = 2^14</a:t>
            </a:r>
          </a:p>
          <a:p>
            <a:r>
              <a:rPr lang="en-US"/>
              <a:t>2 ^ ( 30-14) = 2^16</a:t>
            </a:r>
          </a:p>
        </p:txBody>
      </p:sp>
    </p:spTree>
    <p:extLst>
      <p:ext uri="{BB962C8B-B14F-4D97-AF65-F5344CB8AC3E}">
        <p14:creationId xmlns:p14="http://schemas.microsoft.com/office/powerpoint/2010/main" val="2076452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975C-0D9F-0DD5-4BD7-CEDA8C9F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5711-C7EB-0DF0-53FD-8F92B994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21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3255</TotalTime>
  <Words>1264</Words>
  <Application>Microsoft Macintosh PowerPoint</Application>
  <PresentationFormat>Widescreen</PresentationFormat>
  <Paragraphs>110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Tutorial 4</vt:lpstr>
      <vt:lpstr>Scheduling</vt:lpstr>
      <vt:lpstr>Scheduling</vt:lpstr>
      <vt:lpstr>Why scheduling</vt:lpstr>
      <vt:lpstr>Process becomes runnable</vt:lpstr>
      <vt:lpstr>Scheduler performance</vt:lpstr>
      <vt:lpstr>Scheduling policy</vt:lpstr>
      <vt:lpstr>More advanced schedulers</vt:lpstr>
      <vt:lpstr>Gaming (playing the rule)</vt:lpstr>
      <vt:lpstr>Multiple CPUs</vt:lpstr>
      <vt:lpstr>Other policy </vt:lpstr>
      <vt:lpstr>Memory</vt:lpstr>
      <vt:lpstr>Memory</vt:lpstr>
      <vt:lpstr>Memory page</vt:lpstr>
      <vt:lpstr>Page table</vt:lpstr>
      <vt:lpstr>Problem</vt:lpstr>
      <vt:lpstr>Visualisation </vt:lpstr>
      <vt:lpstr>Attendance</vt:lpstr>
      <vt:lpstr>Practice question 1</vt:lpstr>
      <vt:lpstr>Practice question 2</vt:lpstr>
      <vt:lpstr>Practice question 3</vt:lpstr>
      <vt:lpstr>Practice question 4</vt:lpstr>
      <vt:lpstr>Practice question 4</vt:lpstr>
      <vt:lpstr>Practice question 5</vt:lpstr>
      <vt:lpstr>Practice question 5</vt:lpstr>
      <vt:lpstr>Practice question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Jinghao Jiang</dc:creator>
  <cp:lastModifiedBy>Jinghao Jiang</cp:lastModifiedBy>
  <cp:revision>2</cp:revision>
  <dcterms:created xsi:type="dcterms:W3CDTF">2026-08-17T09:12:09Z</dcterms:created>
  <dcterms:modified xsi:type="dcterms:W3CDTF">2026-08-19T23:36:33Z</dcterms:modified>
</cp:coreProperties>
</file>